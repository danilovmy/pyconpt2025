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677" r:id="rId6"/>
    <p:sldId id="260" r:id="rId7"/>
    <p:sldId id="265" r:id="rId8"/>
    <p:sldId id="264" r:id="rId9"/>
    <p:sldId id="263" r:id="rId10"/>
    <p:sldId id="262" r:id="rId11"/>
    <p:sldId id="268" r:id="rId12"/>
    <p:sldId id="267" r:id="rId13"/>
    <p:sldId id="269" r:id="rId14"/>
    <p:sldId id="261" r:id="rId15"/>
    <p:sldId id="266" r:id="rId16"/>
    <p:sldId id="666" r:id="rId17"/>
    <p:sldId id="667" r:id="rId18"/>
    <p:sldId id="647" r:id="rId19"/>
    <p:sldId id="271" r:id="rId20"/>
    <p:sldId id="668" r:id="rId21"/>
    <p:sldId id="679" r:id="rId22"/>
    <p:sldId id="669" r:id="rId23"/>
    <p:sldId id="670" r:id="rId24"/>
    <p:sldId id="671" r:id="rId25"/>
    <p:sldId id="680" r:id="rId26"/>
    <p:sldId id="672" r:id="rId27"/>
    <p:sldId id="673" r:id="rId28"/>
    <p:sldId id="270" r:id="rId29"/>
    <p:sldId id="674" r:id="rId30"/>
    <p:sldId id="675" r:id="rId31"/>
    <p:sldId id="678" r:id="rId32"/>
    <p:sldId id="676" r:id="rId33"/>
    <p:sldId id="655" r:id="rId34"/>
    <p:sldId id="62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4B33"/>
    <a:srgbClr val="FFC797"/>
    <a:srgbClr val="FFA7C1"/>
    <a:srgbClr val="EAB5FF"/>
    <a:srgbClr val="8AFFFF"/>
    <a:srgbClr val="FB9394"/>
    <a:srgbClr val="F3FFAC"/>
    <a:srgbClr val="E6B6FF"/>
    <a:srgbClr val="FF8FFF"/>
    <a:srgbClr val="B3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9" autoAdjust="0"/>
    <p:restoredTop sz="94660"/>
  </p:normalViewPr>
  <p:slideViewPr>
    <p:cSldViewPr snapToGrid="0">
      <p:cViewPr varScale="1">
        <p:scale>
          <a:sx n="86" d="100"/>
          <a:sy n="86" d="100"/>
        </p:scale>
        <p:origin x="2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5T10:32:13.72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1 602,'59'-2,"1"-3,99-21,-50 6,580-79,5 29,733 22,-1043 68,18 0,-380-20,-1-2,0 0,1-2,-1 0,-1-1,1-1,31-14,6-8,64-41,52-25,-167 90,1 1,0 0,0 0,1 1,-1-1,0 2,1-1,-1 1,1 1,-1 0,1 0,-1 0,1 1,-1 0,1 1,-1 0,0 0,0 1,0 0,0 0,0 1,0 0,-1 0,12 9,38 37,29 21,-78-66,1 0,0-1,0 0,0 0,0-1,1 0,-1-1,1 0,0 0,17 0,8-1,59-8,-81 5,371-63,-266 39,2 6,217-10,694 36,-943-2,0 5,126 27,69 9,-209-37,0 4,101 29,135 63,-251-85,81 15,-89-24,-1 2,83 32,-40-7,-49-20,-1 1,-1 1,43 28,-81-44,0-1,0 1,0 0,0 0,-1 0,1 1,-1-1,0 1,0 0,0 0,-1 0,1 0,-1 0,3 8,-5-8,1 0,-1 0,0-1,0 1,-1 0,1 0,-1 0,0 0,0 0,0 0,0-1,-1 1,0 0,0-1,0 1,0-1,-5 6,-6 7,0-1,-2 0,1-1,-2 0,0-2,0 1,-21 9,-10 5,-74 30,98-48,-1 0,0-1,0-2,-47 7,58-12,0 0,1-1,-1 0,0-1,1-1,-1 0,1-1,0 0,0 0,0-2,-16-7,-207-109,205 107,0 0,-1 2,-1 2,0 0,0 2,-1 2,-39-4,-237 5,188 7,78 0,-1 1,1 3,0 1,-70 22,-162 73,98-33,-32 26,156-68,-1-1,-1-3,-87 23,52-25,-2-5,0-4,-112 1,-345-15,514 0,1-2,0-1,-64-18,64 14,0 1,-1 2,-67-5,66 11,-1 1,1 2,-69 14,8 7,-114 33,165-41,0-2,-1-2,0-2,-1-2,-67 2,53-7,-119 24,26-3,-105-3,-454-21,601-9,-194-42,-101-54,347 88,-1 4,0 2,-1 3,-72 0,-26-3,44 0,-259-35,238 29,74 11,61 6,1 0,0 0,0 0,0-1,0 1,0-1,0 1,0-1,0 0,0 0,0 0,1 0,-1 0,0 0,0 0,1-1,-2-1,2 2,1 0,-1 0,1 0,-1 0,1 0,0 0,0 0,-1-1,1 1,0 0,0 0,0 0,0 0,0-1,1 1,-1 0,0 0,1 0,-1 0,0 0,2-2,3-6,0 1,1 0,0 0,0 0,12-10,13-12,2 2,0 0,2 2,1 2,1 1,1 2,1 1,0 2,2 2,0 2,0 1,2 3,-1 1,1 2,83-3,223 10,-131 3,-149 0,1 3,82 19,39 5,14-5,155 12,791 92,-986-90,-32-7,-111-28,1-1,-1-2,1 0,42-4,90-22,-31 3,135 3,-155 14,165-28,-224 23,1 3,-1 1,1 3,0 1,0 3,0 1,0 2,-1 3,56 14,117 30,-179-45,-1-2,1-1,68-4,-84-3,-2-2,1 0,0-1,-1-1,-1-1,38-22,-7 5,312-138,-341 155,-15 7,1-1,-1 1,0-2,0 1,0-1,0 0,-1 0,1-1,-1 1,7-9,-13 13,1-1,-1 1,0-1,1 0,-1 1,0-1,0 0,1 1,-1-1,0 0,0 1,0-1,0 0,0 1,0-1,0 0,0 1,0-1,-1 0,1 1,0-1,0 0,0 1,-1-1,1 1,0-1,-1 0,1 1,-1-1,1 1,0-1,-1 1,1-1,-1 1,0 0,1-1,-1 1,0-1,-30-13,29 13,-67-20,-1 3,-75-9,31 6,68 12,-67-13,1-4,-195-72,239 69,14 8,2-2,-73-45,58 28,-2 3,-1 3,-1 3,-2 4,-107-27,-385-50,530 99,-201-21,200 24,-1 2,1 1,-1 2,-49 10,57-4,0 1,1 1,0 2,1 1,-43 28,44-24,-1-2,0-1,-2-2,1 0,-38 10,17-13,-1-2,-92 4,-105-14,111-1,79 1,1-3,-77-16,-109-38,-14-2,111 38,-2 7,-266 4,393 12,1 2,0 0,0 1,0 1,0 1,0 0,1 2,0 0,-17 9,-29 11,-101 26,94-31,-67 17,-63 21,157-46,0-3,0-1,-55 4,9-1,47-5,-78 2,111-10,-1 1,1 0,0 1,-1 0,1 1,0 0,0 1,0 0,1 0,-1 1,1 0,0 1,-12 9,-14 5,26-16,1 1,0 0,0 0,-11 10,16-12,1-1,0 0,0 1,0-1,1 1,-1 0,1 0,-1-1,1 1,0 0,0 0,0 0,1 0,-1 0,1 1,-1-1,1 0,0 4,14 104,-7-74,1 45,-9-47,1-22,0 0,0 0,3 18,-2-27,0-1,0 1,0-1,0 0,1 0,-1 1,1-1,0 0,0 0,0 0,0-1,0 1,1 0,-1-1,1 0,0 1,3 1,16 10,-1 0,0 1,-1 2,-1 0,0 1,-1 0,-1 2,-2 0,18 28,-26-36,1 0,0 0,0-1,11 11,-15-19,0 1,0-1,1 0,-1 0,1 0,0-1,0 1,0-1,0 0,0-1,0 1,0-1,8 1,13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5T10:34:41.86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153 675,'17'-1,"0"-1,0 0,0 0,-1-2,1 0,19-6,13-4,863-169,-698 164,-15 1,-58 7,-98 10,83-13,-14 1,-74 9,56-10,-33 3,0 2,0 2,1 3,103 2,-60 4,182-4,-285 2,-1 0,1 0,0 0,0 0,-1 0,1-1,0 1,-1 0,1-1,0 1,-1-1,1 1,-1-1,1 0,-1 0,1 1,-1-1,0 0,0 0,1 0,-1 0,0 0,0 0,1-2,-2 1,1 1,-1-1,0 0,0 0,0 1,0-1,0 0,0 0,0 1,-1-1,1 0,-1 1,0-1,0 0,0 1,-1-2,-5-8,-1 1,-1 0,-20-18,29 28,-14-13,1 0,1-1,-14-20,26 33,-1 1,1-1,-1 0,1 1,-1-1,1 0,0 0,0 0,-1 1,1-1,0 0,0 0,0 0,0 1,0-1,0 0,1 0,-1 0,0 1,0-1,1 0,-1 0,0 1,1-1,-1 0,1 0,0 1,-1-1,1 0,-1 1,1-1,0 1,0-1,-1 1,1-1,0 1,1-1,41-11,-33 10,145-28,1 6,162-8,323 16,-572 15,-48 0,1 0,0 1,0 1,0 0,0 1,0 1,37 10,220 69,-189-55,143 28,-201-51,-1 0,1-2,0 0,38-3,68 3,849 48,-947-50,26-1,0 2,0 2,83 14,-44-3,1-3,0-5,138-4,791-3,-606 29,-1 0,-375-28,0 2,73 10,-74-6,66 1,-67-6,75 11,243 61,-291-53,-1 3,119 50,-171-62,0 1,37 23,-57-31,1-1,-1 1,-1 0,1-1,-1 2,0-1,0 0,0 1,-1 0,0-1,0 1,0 0,-1 0,0 1,0-1,-1 0,2 7,-4-7,0 0,0 0,0-1,-1 1,0 0,0-1,-1 1,1-1,-1 0,0 0,-1 0,1 0,-1 0,0 0,0-1,0 0,-8 5,-6 4,-1-1,0-1,-27 12,-63 15,89-33,1 2,0 0,1 1,0 0,0 1,1 1,0 0,1 1,-18 14,-2 8,18-15,-1 0,-1-1,0 0,-2-1,0-1,-40 19,21-16,-1-1,-84 21,104-32,0-1,-1-1,1 0,-1-2,0 0,1-1,-1 0,-24-4,-44-8,-136-32,128 10,82 27,0 0,-1 1,0 0,0 1,-1 1,0 1,-30-4,-171 8,-12-1,127-13,76 8,-1 2,-31-2,37 5,0 1,0 1,1 1,-1 1,-33 8,-112 40,65-17,-133 42,97-29,-211 48,288-87,0-2,0-2,0-3,-85-5,27 2,115 1,-1 0,1-1,-1 0,1 1,-1-1,1-1,0 1,0-1,-1 0,2 0,-1-1,0 1,0-1,1 0,0 0,0 0,-9-8,2-1,1-1,0 0,1 0,-12-23,10 17,-27-35,34 49,0 0,0 1,0-1,-1 1,1 0,-1 0,0 0,-1 1,1-1,-1 1,-7-2,-7-1,1 1,-1 1,-1 0,1 2,-1 0,1 0,-1 2,1 0,-43 5,28 0,0 1,1 2,1 0,-1 2,-35 15,42-15,0-2,-1 0,0-2,-1 0,0-2,0-1,0 0,-42-2,63-1,-343 13,271-7,0 3,-105 24,-230 52,319-70,-1-3,-132 2,-116-1,-77 0,-539-14,910-1,-73-10,-39-2,71 12,0 3,1 4,-127 18,127-10,0-3,-1-4,1-3,-121-8,84-8,79 7,-69-2,111 8,0 0,0-1,0 0,1 0,-1 0,0-1,1 0,0 0,-1-1,-8-4,0-1,1-1,-25-19,-11-6,40 28,0 1,-1 0,0 1,0 0,0 1,-1-1,0 2,0 0,-15-1,-52-12,42 5,-61-23,85 24,18 3,29 1,-31 5,266-34,-151 17,1 3,175-1,164 17,-441-3,0 0,0 0,0-2,0 0,-1 0,17-6,91-35,-6 1,303-70,-393 107,1 0,0 1,0 2,46-2,118 6,-83 2,-30-2,-1 3,125 19,66 32,-229-48,1 0,-1-2,1-2,49 0,-48-3,0 2,1 1,65 13,-38-3,1-3,1-3,0-1,0-4,137-9,-180 5,0-2,0 0,-1-2,36-11,107-42,-116 38,0 2,95-22,-27 17,-5-1,230-22,-256 40,343-11,-352 18,127 4,-170-2,0 2,0 2,45 10,-65-11,31 7,-1 1,-1 2,80 34,-103-36,1-2,0 0,0-1,2-1,-1-1,1-1,1-1,0-2,0 0,0-1,0-1,0-2,1 0,-1-2,33-4,144-31,-2-6,229-75,-216 63,-95 27,-113 25,-1 0,0 0,0-1,-1 0,1-1,-1 1,0-1,10-9,-1 2,-4 6,-12 11,-19 15,-20 2,-1-2,-1-1,-1-1,-55 17,-179 40,-404 71,-19-51,578-88,-242-9,338-1,0 0,0-1,0-1,1-1,-35-12,-109-52,43 17,34 21,-58-25,128 48,1-1,0-1,2 0,-1 0,-19-18,24 19,0 0,-1 1,0 0,-1 1,0 1,0 0,-1 0,-1 1,1 1,-1 0,0 1,0 0,-1 1,-17-1,4 1,0 2,1 0,-1 2,1 1,-1 1,1 0,-42 11,-17 15,73-23,0 0,-1 0,0-2,0 0,0 0,-26 2,24-5,1-2,-1 1,0-2,1 0,-1-1,-28-8,-106-37,148 46,-224-90,-34-12,225 91,-2 2,0 1,0 1,-83-8,116 17,0-1,0 1,-1 0,1 0,0 1,0 0,0 0,-12 3,17-3,-1 0,0 0,1 0,-1 1,1-1,-1 0,1 1,0 0,0-1,0 1,0 0,0 0,1 0,-1 0,1 0,0 0,-1 1,1-1,0 0,1 1,-1-1,0 0,0 3,-1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B8E13-5857-4D82-8696-98C55BDFABCB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97472-93B9-44D4-A8AF-DFECDB6BB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53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97472-93B9-44D4-A8AF-DFECDB6BBC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3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2AAE1-5AF7-2956-CFC9-5B835A2F6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7303C6-88FC-EF4B-AA9D-74384E63B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C66C8C-8B06-E9B7-FF48-37E5041E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F1876-562C-4B77-A971-B04394492B03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4C9A66-983D-FEEA-45B2-320BDE5DD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3B06DE-606A-AE70-291C-8BE893AC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02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01517-7CD9-53DD-28CB-E2A96E884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7A2694-F415-7C4B-F50C-A2B90EF3E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19071B-5759-3D36-592E-37DC27BD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1E17-0DBA-421D-A897-97841B9260E9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840185-E17B-AE24-D339-C488A02E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7D348F-BCAC-FC30-EF27-B0A7C05A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7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2A4EC-4248-BDAE-3C3B-BEBD526E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F0816A-93E2-723F-8D69-E1F1F153D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23F047-A76D-CC3F-E47F-48CA4BE86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3699-D116-4ED0-BB10-B9E90DFF909D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C0A46F-B132-5412-E761-C343D58D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76923E-E170-AD5F-DE4A-46116A083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1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7B882-D727-B81C-FD91-D0B6AC7E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A96BA6-E11D-9655-2665-F937C0CA5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5DF9A7-42C5-965A-5C71-A67DB531F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0BA915-38B2-EE77-84D6-C1640B147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2DE-E890-4266-BBC9-C88D72A2DA99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2C7148-3F80-FDBC-C7EE-CF8D6DBC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27AC31-36F3-82F5-E985-2EA21233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9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AD0D3-991C-FC43-38C0-639DD9410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6239ED-BEFB-BF8A-C75B-B656B5D98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219E98-EFEB-79E0-5FC5-E577A0EE0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6CC91-26E1-07BB-4124-01ABA6CF5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7A36B3-2BE8-0EB5-3C43-D863F303DD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1AC3160-DF77-B105-9DF1-D1BC8C9A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99BCE-D01F-4729-8C0A-021930823BA1}" type="datetime1">
              <a:rPr lang="en-US" smtClean="0"/>
              <a:t>7/26/2025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73F41E5-FDF0-A3E2-FAD4-C3B15B89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FF17F37-7BA0-7A0D-20A8-9BC6DC88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0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348A3-CF6C-F594-6715-B84B98C3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8ADEDF-6698-9E22-AF45-7F1D3034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FAE8A-FC5F-49DE-993E-58543286CD11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2F27DF6-3418-AF6D-80EB-A1FBCDF0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FE96AA-B66D-70D3-481F-A447A174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2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1B7647-AF08-D069-5921-A1C6B63C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E779-DABD-49D0-A884-D462C9B3B451}" type="datetime1">
              <a:rPr lang="en-US" smtClean="0"/>
              <a:t>7/26/2025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9214ED-AA27-B4E2-F62F-B4B7F052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84F8CB-8A82-CC3C-C5B3-8301B02A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1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5BD112-EC49-6C28-CF6D-04F9801A3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7BD998-F973-939F-7B10-0E0C6B300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45C6AC-A30B-FDD9-BAB5-014D2C002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008E71-60F9-1C20-3EDE-5EB027E2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2F529-0033-492E-B7D2-132210882CF6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871DC0-8923-BCD1-FFF0-38892033A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081115-3E89-9DDE-20F3-C34A75C8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5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DC671-D17B-98CC-D1C0-BD03A92C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A297ACB-F671-1B6E-04B5-17841AB4D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D21F98-8771-BA58-2266-A2BB19822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F6D413-8D05-8503-81DE-DA8870B4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AD62-8725-413F-B4A0-FA871BD48580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9B60D7-7DA9-70D9-81BB-BF2C7A079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35838E-E96F-BDDB-06DE-5F9461C0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41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0B86D3-760A-822F-D30F-88D9CBE7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E7FC3C-13AB-7CEB-28B5-8D11B5561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3A33FE-F332-3D58-E0DF-8B9833572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DD33-198F-438B-AD43-2F2AC19BCB4A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7258C6-F42B-B97D-CB98-DB33E054B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A02FAF-6591-5A51-2A70-68B0EB27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11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B30B8C-602C-87B6-F2E9-675C9894D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C69E50-7398-E334-1416-5DD606386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FFFD33-0F0E-0EB8-8F45-1B4D915E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6A66-5FF1-4A07-9554-D1E799440502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51B0B7-74C0-BF8C-FE73-8183AEFF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2517AB-04FA-4B68-247D-B2B8BE8F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2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09F2D-8C7C-0290-704F-B7DB8B7B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EBC361-DFBA-A836-8969-284AA0C3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19CBA2-D4EF-2EF3-D878-E74DF33A6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4028B-9BCF-4EDC-8EB4-4C14A1843B78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D0862F-CA22-2DB7-6691-4FA43E2D0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DB3DBF-6FAF-10CE-8E28-172EEE349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9A6A-92A3-45A5-92C7-6A0F41A71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C4B33"/>
          </a:solidFill>
          <a:latin typeface="DTLProkyonSTMedium" panose="020000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danilovmy/pyconpt2025/tree/main/worksho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4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8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2.wdp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microsoft.com/office/2007/relationships/hdphoto" Target="../media/hdphoto20.wdp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1.wdp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mailto:maxim@wpsoft.at" TargetMode="External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github.com/danilovmy/pyconpt2025/tree/main/workshop" TargetMode="External"/><Relationship Id="rId4" Type="http://schemas.openxmlformats.org/officeDocument/2006/relationships/image" Target="../media/image5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91B04-98B0-69FB-88E9-0B508FD26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1693" y="2315201"/>
            <a:ext cx="6328612" cy="1223963"/>
          </a:xfrm>
          <a:solidFill>
            <a:schemeClr val="bg1">
              <a:lumMod val="85000"/>
              <a:alpha val="51000"/>
            </a:schemeClr>
          </a:solidFill>
          <a:effectLst>
            <a:softEdge rad="101600"/>
          </a:effectLst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C400"/>
                </a:solidFill>
                <a:latin typeface="Monument Extended" panose="00000500000000000000" pitchFamily="50" charset="0"/>
                <a:ea typeface="Gadugi" panose="020B0502040204020203" pitchFamily="34" charset="0"/>
              </a:rPr>
              <a:t>RESTfull-API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39D2F7-8345-E219-2EE5-D52FD1428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1031" y="3539164"/>
            <a:ext cx="5309937" cy="867945"/>
          </a:xfrm>
          <a:solidFill>
            <a:schemeClr val="bg1">
              <a:lumMod val="85000"/>
              <a:alpha val="71000"/>
            </a:schemeClr>
          </a:solidFill>
          <a:effectLst>
            <a:softEdge rad="88900"/>
          </a:effectLst>
        </p:spPr>
        <p:txBody>
          <a:bodyPr>
            <a:normAutofit/>
          </a:bodyPr>
          <a:lstStyle/>
          <a:p>
            <a:r>
              <a:rPr lang="en-US" sz="3200">
                <a:solidFill>
                  <a:srgbClr val="4472C4"/>
                </a:solidFill>
                <a:latin typeface="Monument Extended" panose="00000500000000000000" pitchFamily="50" charset="0"/>
                <a:ea typeface="Gadugi" panose="020B0502040204020203" pitchFamily="34" charset="0"/>
              </a:rPr>
              <a:t>with pure </a:t>
            </a:r>
            <a:r>
              <a:rPr lang="en-US" sz="3200">
                <a:solidFill>
                  <a:srgbClr val="2B8C67"/>
                </a:solidFill>
                <a:latin typeface="Monument Extended" panose="00000500000000000000" pitchFamily="50" charset="0"/>
                <a:ea typeface="Gadugi" panose="020B0502040204020203" pitchFamily="34" charset="0"/>
              </a:rPr>
              <a:t>Django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556F9D74-4381-F65D-73FD-AA5850D1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526A545F-15C1-40B7-877F-7E22A72506A9}" type="datetime1">
              <a:rPr lang="en-US" sz="2800" smtClean="0">
                <a:solidFill>
                  <a:srgbClr val="FFC400"/>
                </a:solidFill>
              </a:rPr>
              <a:pPr algn="ctr"/>
              <a:t>7/26/2025</a:t>
            </a:fld>
            <a:endParaRPr lang="en-US" sz="2800">
              <a:solidFill>
                <a:srgbClr val="FFC400"/>
              </a:solidFill>
            </a:endParaRP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089F7FB3-F886-092A-8EF5-60313D2B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800">
                <a:solidFill>
                  <a:srgbClr val="FFC400"/>
                </a:solidFill>
              </a:rPr>
              <a:t>Maxim Danilov, danilovmy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92F17BA-E839-B4FD-D006-3C6C85CF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1</a:t>
            </a:fld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A46D06-E5C3-3AFD-5164-B33499AD4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54140" y="4921250"/>
            <a:ext cx="1755775" cy="1800225"/>
          </a:xfrm>
          <a:prstGeom prst="rect">
            <a:avLst/>
          </a:prstGeom>
          <a:effectLst>
            <a:glow rad="304800">
              <a:schemeClr val="bg1">
                <a:alpha val="88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81243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65619-0C0C-8845-B606-AB43EE9A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I am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3EE6D8-EED8-EC64-FB93-9100F1EB16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930"/>
          <a:stretch/>
        </p:blipFill>
        <p:spPr>
          <a:xfrm>
            <a:off x="786062" y="1690688"/>
            <a:ext cx="4307243" cy="3699460"/>
          </a:xfrm>
          <a:custGeom>
            <a:avLst/>
            <a:gdLst>
              <a:gd name="connsiteX0" fmla="*/ 515433 w 3277928"/>
              <a:gd name="connsiteY0" fmla="*/ 0 h 2815389"/>
              <a:gd name="connsiteX1" fmla="*/ 1132009 w 3277928"/>
              <a:gd name="connsiteY1" fmla="*/ 0 h 2815389"/>
              <a:gd name="connsiteX2" fmla="*/ 1202995 w 3277928"/>
              <a:gd name="connsiteY2" fmla="*/ 25897 h 2815389"/>
              <a:gd name="connsiteX3" fmla="*/ 1655719 w 3277928"/>
              <a:gd name="connsiteY3" fmla="*/ 386080 h 2815389"/>
              <a:gd name="connsiteX4" fmla="*/ 2558968 w 3277928"/>
              <a:gd name="connsiteY4" fmla="*/ 151905 h 2815389"/>
              <a:gd name="connsiteX5" fmla="*/ 3243582 w 3277928"/>
              <a:gd name="connsiteY5" fmla="*/ 433266 h 2815389"/>
              <a:gd name="connsiteX6" fmla="*/ 3277928 w 3277928"/>
              <a:gd name="connsiteY6" fmla="*/ 468821 h 2815389"/>
              <a:gd name="connsiteX7" fmla="*/ 3277928 w 3277928"/>
              <a:gd name="connsiteY7" fmla="*/ 938491 h 2815389"/>
              <a:gd name="connsiteX8" fmla="*/ 3269488 w 3277928"/>
              <a:gd name="connsiteY8" fmla="*/ 947246 h 2815389"/>
              <a:gd name="connsiteX9" fmla="*/ 3205739 w 3277928"/>
              <a:gd name="connsiteY9" fmla="*/ 977095 h 2815389"/>
              <a:gd name="connsiteX10" fmla="*/ 2135222 w 3277928"/>
              <a:gd name="connsiteY10" fmla="*/ 787524 h 2815389"/>
              <a:gd name="connsiteX11" fmla="*/ 1443846 w 3277928"/>
              <a:gd name="connsiteY11" fmla="*/ 1099758 h 2815389"/>
              <a:gd name="connsiteX12" fmla="*/ 1176217 w 3277928"/>
              <a:gd name="connsiteY12" fmla="*/ 1434295 h 2815389"/>
              <a:gd name="connsiteX13" fmla="*/ 1756080 w 3277928"/>
              <a:gd name="connsiteY13" fmla="*/ 2705534 h 2815389"/>
              <a:gd name="connsiteX14" fmla="*/ 1757006 w 3277928"/>
              <a:gd name="connsiteY14" fmla="*/ 2775850 h 2815389"/>
              <a:gd name="connsiteX15" fmla="*/ 1737774 w 3277928"/>
              <a:gd name="connsiteY15" fmla="*/ 2815389 h 2815389"/>
              <a:gd name="connsiteX16" fmla="*/ 1490502 w 3277928"/>
              <a:gd name="connsiteY16" fmla="*/ 2815389 h 2815389"/>
              <a:gd name="connsiteX17" fmla="*/ 1458864 w 3277928"/>
              <a:gd name="connsiteY17" fmla="*/ 2798915 h 2815389"/>
              <a:gd name="connsiteX18" fmla="*/ 1410393 w 3277928"/>
              <a:gd name="connsiteY18" fmla="*/ 2761290 h 2815389"/>
              <a:gd name="connsiteX19" fmla="*/ 1087007 w 3277928"/>
              <a:gd name="connsiteY19" fmla="*/ 2058763 h 2815389"/>
              <a:gd name="connsiteX20" fmla="*/ 897437 w 3277928"/>
              <a:gd name="connsiteY20" fmla="*/ 2493661 h 2815389"/>
              <a:gd name="connsiteX21" fmla="*/ 730168 w 3277928"/>
              <a:gd name="connsiteY21" fmla="*/ 2404451 h 2815389"/>
              <a:gd name="connsiteX22" fmla="*/ 775633 w 3277928"/>
              <a:gd name="connsiteY22" fmla="*/ 2745086 h 2815389"/>
              <a:gd name="connsiteX23" fmla="*/ 785492 w 3277928"/>
              <a:gd name="connsiteY23" fmla="*/ 2815389 h 2815389"/>
              <a:gd name="connsiteX24" fmla="*/ 539131 w 3277928"/>
              <a:gd name="connsiteY24" fmla="*/ 2815389 h 2815389"/>
              <a:gd name="connsiteX25" fmla="*/ 531973 w 3277928"/>
              <a:gd name="connsiteY25" fmla="*/ 2776710 h 2815389"/>
              <a:gd name="connsiteX26" fmla="*/ 473690 w 3277928"/>
              <a:gd name="connsiteY26" fmla="*/ 2192578 h 2815389"/>
              <a:gd name="connsiteX27" fmla="*/ 351027 w 3277928"/>
              <a:gd name="connsiteY27" fmla="*/ 1467748 h 2815389"/>
              <a:gd name="connsiteX28" fmla="*/ 83398 w 3277928"/>
              <a:gd name="connsiteY28" fmla="*/ 1177817 h 2815389"/>
              <a:gd name="connsiteX29" fmla="*/ 5339 w 3277928"/>
              <a:gd name="connsiteY29" fmla="*/ 586802 h 2815389"/>
              <a:gd name="connsiteX30" fmla="*/ 206061 w 3277928"/>
              <a:gd name="connsiteY30" fmla="*/ 84997 h 2815389"/>
              <a:gd name="connsiteX31" fmla="*/ 513351 w 3277928"/>
              <a:gd name="connsiteY31" fmla="*/ 252 h 2815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277928" h="2815389">
                <a:moveTo>
                  <a:pt x="515433" y="0"/>
                </a:moveTo>
                <a:lnTo>
                  <a:pt x="1132009" y="0"/>
                </a:lnTo>
                <a:lnTo>
                  <a:pt x="1202995" y="25897"/>
                </a:lnTo>
                <a:cubicBezTo>
                  <a:pt x="1378449" y="119989"/>
                  <a:pt x="1445937" y="363313"/>
                  <a:pt x="1655719" y="386080"/>
                </a:cubicBezTo>
                <a:cubicBezTo>
                  <a:pt x="1895470" y="412100"/>
                  <a:pt x="2285763" y="135178"/>
                  <a:pt x="2558968" y="151905"/>
                </a:cubicBezTo>
                <a:cubicBezTo>
                  <a:pt x="2798022" y="166541"/>
                  <a:pt x="3099686" y="306395"/>
                  <a:pt x="3243582" y="433266"/>
                </a:cubicBezTo>
                <a:lnTo>
                  <a:pt x="3277928" y="468821"/>
                </a:lnTo>
                <a:lnTo>
                  <a:pt x="3277928" y="938491"/>
                </a:lnTo>
                <a:lnTo>
                  <a:pt x="3269488" y="947246"/>
                </a:lnTo>
                <a:cubicBezTo>
                  <a:pt x="3251099" y="960601"/>
                  <a:pt x="3229900" y="970823"/>
                  <a:pt x="3205739" y="977095"/>
                </a:cubicBezTo>
                <a:cubicBezTo>
                  <a:pt x="3012451" y="1027275"/>
                  <a:pt x="2428871" y="767080"/>
                  <a:pt x="2135222" y="787524"/>
                </a:cubicBezTo>
                <a:cubicBezTo>
                  <a:pt x="1841573" y="807968"/>
                  <a:pt x="1603680" y="991963"/>
                  <a:pt x="1443846" y="1099758"/>
                </a:cubicBezTo>
                <a:cubicBezTo>
                  <a:pt x="1284012" y="1207553"/>
                  <a:pt x="1124178" y="1166666"/>
                  <a:pt x="1176217" y="1434295"/>
                </a:cubicBezTo>
                <a:cubicBezTo>
                  <a:pt x="1228256" y="1701924"/>
                  <a:pt x="1717051" y="2484368"/>
                  <a:pt x="1756080" y="2705534"/>
                </a:cubicBezTo>
                <a:cubicBezTo>
                  <a:pt x="1760959" y="2733180"/>
                  <a:pt x="1760959" y="2756470"/>
                  <a:pt x="1757006" y="2775850"/>
                </a:cubicBezTo>
                <a:lnTo>
                  <a:pt x="1737774" y="2815389"/>
                </a:lnTo>
                <a:lnTo>
                  <a:pt x="1490502" y="2815389"/>
                </a:lnTo>
                <a:lnTo>
                  <a:pt x="1458864" y="2798915"/>
                </a:lnTo>
                <a:cubicBezTo>
                  <a:pt x="1440798" y="2787455"/>
                  <a:pt x="1424332" y="2774765"/>
                  <a:pt x="1410393" y="2761290"/>
                </a:cubicBezTo>
                <a:cubicBezTo>
                  <a:pt x="1298881" y="2653495"/>
                  <a:pt x="1172500" y="2103368"/>
                  <a:pt x="1087007" y="2058763"/>
                </a:cubicBezTo>
                <a:cubicBezTo>
                  <a:pt x="1001514" y="2014158"/>
                  <a:pt x="956910" y="2436046"/>
                  <a:pt x="897437" y="2493661"/>
                </a:cubicBezTo>
                <a:cubicBezTo>
                  <a:pt x="837964" y="2551276"/>
                  <a:pt x="748753" y="2331968"/>
                  <a:pt x="730168" y="2404451"/>
                </a:cubicBezTo>
                <a:cubicBezTo>
                  <a:pt x="718552" y="2449753"/>
                  <a:pt x="754126" y="2610487"/>
                  <a:pt x="775633" y="2745086"/>
                </a:cubicBezTo>
                <a:lnTo>
                  <a:pt x="785492" y="2815389"/>
                </a:lnTo>
                <a:lnTo>
                  <a:pt x="539131" y="2815389"/>
                </a:lnTo>
                <a:lnTo>
                  <a:pt x="531973" y="2776710"/>
                </a:lnTo>
                <a:cubicBezTo>
                  <a:pt x="507841" y="2614931"/>
                  <a:pt x="500174" y="2372391"/>
                  <a:pt x="473690" y="2192578"/>
                </a:cubicBezTo>
                <a:cubicBezTo>
                  <a:pt x="438378" y="1952827"/>
                  <a:pt x="416076" y="1642450"/>
                  <a:pt x="351027" y="1467748"/>
                </a:cubicBezTo>
                <a:cubicBezTo>
                  <a:pt x="285978" y="1293046"/>
                  <a:pt x="141013" y="1324641"/>
                  <a:pt x="83398" y="1177817"/>
                </a:cubicBezTo>
                <a:cubicBezTo>
                  <a:pt x="25783" y="1030993"/>
                  <a:pt x="-15105" y="768939"/>
                  <a:pt x="5339" y="586802"/>
                </a:cubicBezTo>
                <a:cubicBezTo>
                  <a:pt x="25783" y="404665"/>
                  <a:pt x="20207" y="183499"/>
                  <a:pt x="206061" y="84997"/>
                </a:cubicBezTo>
                <a:cubicBezTo>
                  <a:pt x="275756" y="48059"/>
                  <a:pt x="387791" y="19222"/>
                  <a:pt x="513351" y="252"/>
                </a:cubicBezTo>
                <a:close/>
              </a:path>
            </a:pathLst>
          </a:custGeo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9563E4AC-2E17-BEAB-8720-5F9E2FB3C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3695" y="1825625"/>
            <a:ext cx="7660104" cy="4351338"/>
          </a:xfrm>
        </p:spPr>
        <p:txBody>
          <a:bodyPr>
            <a:norm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Professional skier ⛷️</a:t>
            </a:r>
            <a:endParaRPr lang="ru-RU"/>
          </a:p>
          <a:p>
            <a:r>
              <a:rPr lang="en-US"/>
              <a:t>Trail runner 🏃‍♂️</a:t>
            </a:r>
            <a:endParaRPr lang="ru-RU"/>
          </a:p>
          <a:p>
            <a:r>
              <a:rPr lang="en-US"/>
              <a:t>Sommelier 🍷🍾</a:t>
            </a:r>
            <a:endParaRPr lang="ru-RU"/>
          </a:p>
          <a:p>
            <a:r>
              <a:rPr lang="en-US"/>
              <a:t>Mentor </a:t>
            </a:r>
            <a:r>
              <a:rPr lang="de-DE"/>
              <a:t>for</a:t>
            </a:r>
            <a:r>
              <a:rPr lang="en-US"/>
              <a:t> developer community for free 👴. (and not free for companies). 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46B7350-F1A4-4256-A31F-2CD73518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CF489-2DF8-4FE4-B10B-853E428B879E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FE27F4-056C-667D-FBD0-0050AF24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720EBD-6F58-EDB7-E7CD-0B6B1624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01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4E7E27-B753-366B-9F65-943006380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 for support for my family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ED96BB3-1E04-3D97-CD56-FF7F3846D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3538555" y="-179743"/>
            <a:ext cx="5114889" cy="8482263"/>
          </a:xfrm>
        </p:spPr>
      </p:pic>
      <p:sp>
        <p:nvSpPr>
          <p:cNvPr id="10" name="Дата 9">
            <a:extLst>
              <a:ext uri="{FF2B5EF4-FFF2-40B4-BE49-F238E27FC236}">
                <a16:creationId xmlns:a16="http://schemas.microsoft.com/office/drawing/2014/main" id="{D58F6300-5D85-ECA3-C30A-2BB0932C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49EE8-0E9B-455F-BE21-C59854D8A22F}" type="datetime1">
              <a:rPr lang="en-US" smtClean="0"/>
              <a:t>7/26/2025</a:t>
            </a:fld>
            <a:endParaRPr lang="en-US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7C06C120-4C48-5815-0EB8-C30CE4045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90538321-3ACD-801C-53D3-9BBCC60E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8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FE0C16-6892-C06D-41B0-3F6CB85AF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 Maja &amp; Mark for illustrations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1AB01AFE-5DAC-6439-D599-82723D844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4442" y="1965238"/>
            <a:ext cx="5801785" cy="4351339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56A99A5-0194-E753-FBE2-C9B44273DA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215" y="1965238"/>
            <a:ext cx="5801785" cy="4351339"/>
          </a:xfrm>
          <a:prstGeom prst="rect">
            <a:avLst/>
          </a:prstGeom>
        </p:spPr>
      </p:pic>
      <p:sp>
        <p:nvSpPr>
          <p:cNvPr id="3" name="Дата 2">
            <a:extLst>
              <a:ext uri="{FF2B5EF4-FFF2-40B4-BE49-F238E27FC236}">
                <a16:creationId xmlns:a16="http://schemas.microsoft.com/office/drawing/2014/main" id="{E0DDF7CA-314D-D0C5-1402-134C7E06C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2C4C-BEBA-48D6-9F98-CE62209383AA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E5EEE8-8F87-1B4C-CE01-645782CF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7BE378-271B-22DB-F46E-272742C7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06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65619-0C0C-8845-B606-AB43EE9A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Links</a:t>
            </a:r>
            <a:endParaRPr lang="en-US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9563E4AC-2E17-BEAB-8720-5F9E2FB3C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hlinkClick r:id="rId2"/>
              </a:rPr>
              <a:t>https://github.com/danilovmy/pyconpt2025/tree/main/workshop</a:t>
            </a:r>
            <a:endParaRPr lang="en-US"/>
          </a:p>
          <a:p>
            <a:pPr marL="0" indent="0">
              <a:buNone/>
            </a:pPr>
            <a:r>
              <a:rPr lang="en-US"/>
              <a:t>Slides &amp; code samples from this workshop</a:t>
            </a:r>
            <a:endParaRPr lang="de-DE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46B7350-F1A4-4256-A31F-2CD73518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CF489-2DF8-4FE4-B10B-853E428B879E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FE27F4-056C-667D-FBD0-0050AF24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720EBD-6F58-EDB7-E7CD-0B6B1624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5</a:t>
            </a:fld>
            <a:endParaRPr lang="en-US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B2FB16A-2D09-12EA-F139-684167A9FD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1745" y="3643773"/>
            <a:ext cx="2616855" cy="2622884"/>
          </a:xfrm>
          <a:custGeom>
            <a:avLst/>
            <a:gdLst>
              <a:gd name="connsiteX0" fmla="*/ 199372 w 2616855"/>
              <a:gd name="connsiteY0" fmla="*/ 0 h 2622884"/>
              <a:gd name="connsiteX1" fmla="*/ 2441086 w 2616855"/>
              <a:gd name="connsiteY1" fmla="*/ 0 h 2622884"/>
              <a:gd name="connsiteX2" fmla="*/ 2476700 w 2616855"/>
              <a:gd name="connsiteY2" fmla="*/ 8784 h 2622884"/>
              <a:gd name="connsiteX3" fmla="*/ 2598615 w 2616855"/>
              <a:gd name="connsiteY3" fmla="*/ 44164 h 2622884"/>
              <a:gd name="connsiteX4" fmla="*/ 2616855 w 2616855"/>
              <a:gd name="connsiteY4" fmla="*/ 50572 h 2622884"/>
              <a:gd name="connsiteX5" fmla="*/ 2616855 w 2616855"/>
              <a:gd name="connsiteY5" fmla="*/ 1767333 h 2622884"/>
              <a:gd name="connsiteX6" fmla="*/ 2578087 w 2616855"/>
              <a:gd name="connsiteY6" fmla="*/ 1815565 h 2622884"/>
              <a:gd name="connsiteX7" fmla="*/ 1871349 w 2616855"/>
              <a:gd name="connsiteY7" fmla="*/ 2616523 h 2622884"/>
              <a:gd name="connsiteX8" fmla="*/ 1865424 w 2616855"/>
              <a:gd name="connsiteY8" fmla="*/ 2622884 h 2622884"/>
              <a:gd name="connsiteX9" fmla="*/ 480420 w 2616855"/>
              <a:gd name="connsiteY9" fmla="*/ 2622884 h 2622884"/>
              <a:gd name="connsiteX10" fmla="*/ 251622 w 2616855"/>
              <a:gd name="connsiteY10" fmla="*/ 2486020 h 2622884"/>
              <a:gd name="connsiteX11" fmla="*/ 43678 w 2616855"/>
              <a:gd name="connsiteY11" fmla="*/ 2331901 h 2622884"/>
              <a:gd name="connsiteX12" fmla="*/ 0 w 2616855"/>
              <a:gd name="connsiteY12" fmla="*/ 2291390 h 2622884"/>
              <a:gd name="connsiteX13" fmla="*/ 0 w 2616855"/>
              <a:gd name="connsiteY13" fmla="*/ 217882 h 2622884"/>
              <a:gd name="connsiteX14" fmla="*/ 54311 w 2616855"/>
              <a:gd name="connsiteY14" fmla="*/ 139263 h 2622884"/>
              <a:gd name="connsiteX15" fmla="*/ 133340 w 2616855"/>
              <a:gd name="connsiteY15" fmla="*/ 52296 h 262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616855" h="2622884">
                <a:moveTo>
                  <a:pt x="199372" y="0"/>
                </a:moveTo>
                <a:lnTo>
                  <a:pt x="2441086" y="0"/>
                </a:lnTo>
                <a:lnTo>
                  <a:pt x="2476700" y="8784"/>
                </a:lnTo>
                <a:cubicBezTo>
                  <a:pt x="2520575" y="20497"/>
                  <a:pt x="2561382" y="32337"/>
                  <a:pt x="2598615" y="44164"/>
                </a:cubicBezTo>
                <a:lnTo>
                  <a:pt x="2616855" y="50572"/>
                </a:lnTo>
                <a:lnTo>
                  <a:pt x="2616855" y="1767333"/>
                </a:lnTo>
                <a:lnTo>
                  <a:pt x="2578087" y="1815565"/>
                </a:lnTo>
                <a:cubicBezTo>
                  <a:pt x="2349840" y="2093972"/>
                  <a:pt x="2086132" y="2384962"/>
                  <a:pt x="1871349" y="2616523"/>
                </a:cubicBezTo>
                <a:lnTo>
                  <a:pt x="1865424" y="2622884"/>
                </a:lnTo>
                <a:lnTo>
                  <a:pt x="480420" y="2622884"/>
                </a:lnTo>
                <a:lnTo>
                  <a:pt x="251622" y="2486020"/>
                </a:lnTo>
                <a:cubicBezTo>
                  <a:pt x="177231" y="2437154"/>
                  <a:pt x="106875" y="2385745"/>
                  <a:pt x="43678" y="2331901"/>
                </a:cubicBezTo>
                <a:lnTo>
                  <a:pt x="0" y="2291390"/>
                </a:lnTo>
                <a:lnTo>
                  <a:pt x="0" y="217882"/>
                </a:lnTo>
                <a:lnTo>
                  <a:pt x="54311" y="139263"/>
                </a:lnTo>
                <a:cubicBezTo>
                  <a:pt x="79292" y="107543"/>
                  <a:pt x="105632" y="78430"/>
                  <a:pt x="133340" y="52296"/>
                </a:cubicBezTo>
                <a:close/>
              </a:path>
            </a:pathLst>
          </a:cu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60C3473-678A-0FF1-737A-07D3B6642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503" y="2664755"/>
            <a:ext cx="3533078" cy="353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911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AC06E-7044-8EDE-52C7-7DFE6F4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REST </a:t>
            </a:r>
            <a:br>
              <a:rPr lang="en-US"/>
            </a:br>
            <a:r>
              <a:rPr lang="en-US"/>
              <a:t>(Re-presentative State Transfer)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DCCEF-6A36-3483-CB51-5AEC7010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>
                <a:solidFill>
                  <a:srgbClr val="101418"/>
                </a:solidFill>
                <a:effectLst/>
                <a:latin typeface="Linux Libertine"/>
              </a:rPr>
              <a:t>6 Principles, how server application can be built. </a:t>
            </a:r>
          </a:p>
          <a:p>
            <a:r>
              <a:rPr lang="en-US" b="0" i="0">
                <a:solidFill>
                  <a:srgbClr val="0C0D0E"/>
                </a:solidFill>
                <a:effectLst/>
                <a:latin typeface="-apple-system"/>
              </a:rPr>
              <a:t>Author Roy Fielding, 2000 </a:t>
            </a:r>
            <a:endParaRPr lang="en-US" b="0" i="0">
              <a:solidFill>
                <a:srgbClr val="101418"/>
              </a:solidFill>
              <a:effectLst/>
              <a:latin typeface="Linux Libertine"/>
            </a:endParaRPr>
          </a:p>
          <a:p>
            <a:endParaRPr lang="en-US">
              <a:solidFill>
                <a:srgbClr val="101418"/>
              </a:solidFill>
              <a:latin typeface="Linux Libertine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721DF8-E53C-EA19-BCAC-25E2920710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8411961">
            <a:off x="7624339" y="2321731"/>
            <a:ext cx="3740294" cy="3629561"/>
          </a:xfrm>
          <a:custGeom>
            <a:avLst/>
            <a:gdLst>
              <a:gd name="connsiteX0" fmla="*/ 3569871 w 3740294"/>
              <a:gd name="connsiteY0" fmla="*/ 635956 h 3629561"/>
              <a:gd name="connsiteX1" fmla="*/ 3694603 w 3740294"/>
              <a:gd name="connsiteY1" fmla="*/ 819962 h 3629561"/>
              <a:gd name="connsiteX2" fmla="*/ 3740294 w 3740294"/>
              <a:gd name="connsiteY2" fmla="*/ 903581 h 3629561"/>
              <a:gd name="connsiteX3" fmla="*/ 3740294 w 3740294"/>
              <a:gd name="connsiteY3" fmla="*/ 3031955 h 3629561"/>
              <a:gd name="connsiteX4" fmla="*/ 3659708 w 3740294"/>
              <a:gd name="connsiteY4" fmla="*/ 3161037 h 3629561"/>
              <a:gd name="connsiteX5" fmla="*/ 3229678 w 3740294"/>
              <a:gd name="connsiteY5" fmla="*/ 3605552 h 3629561"/>
              <a:gd name="connsiteX6" fmla="*/ 3193827 w 3740294"/>
              <a:gd name="connsiteY6" fmla="*/ 3629561 h 3629561"/>
              <a:gd name="connsiteX7" fmla="*/ 845706 w 3740294"/>
              <a:gd name="connsiteY7" fmla="*/ 3629561 h 3629561"/>
              <a:gd name="connsiteX8" fmla="*/ 744992 w 3740294"/>
              <a:gd name="connsiteY8" fmla="*/ 3561522 h 3629561"/>
              <a:gd name="connsiteX9" fmla="*/ 283679 w 3740294"/>
              <a:gd name="connsiteY9" fmla="*/ 3100253 h 3629561"/>
              <a:gd name="connsiteX10" fmla="*/ 54481 w 3740294"/>
              <a:gd name="connsiteY10" fmla="*/ 2725064 h 3629561"/>
              <a:gd name="connsiteX11" fmla="*/ 0 w 3740294"/>
              <a:gd name="connsiteY11" fmla="*/ 2597945 h 3629561"/>
              <a:gd name="connsiteX12" fmla="*/ 0 w 3740294"/>
              <a:gd name="connsiteY12" fmla="*/ 923451 h 3629561"/>
              <a:gd name="connsiteX13" fmla="*/ 86694 w 3740294"/>
              <a:gd name="connsiteY13" fmla="*/ 746801 h 3629561"/>
              <a:gd name="connsiteX14" fmla="*/ 623873 w 3740294"/>
              <a:gd name="connsiteY14" fmla="*/ 130656 h 3629561"/>
              <a:gd name="connsiteX15" fmla="*/ 798597 w 3740294"/>
              <a:gd name="connsiteY15" fmla="*/ 13646 h 3629561"/>
              <a:gd name="connsiteX16" fmla="*/ 824590 w 3740294"/>
              <a:gd name="connsiteY16" fmla="*/ 0 h 3629561"/>
              <a:gd name="connsiteX17" fmla="*/ 2830168 w 3740294"/>
              <a:gd name="connsiteY17" fmla="*/ 0 h 3629561"/>
              <a:gd name="connsiteX18" fmla="*/ 2933600 w 3740294"/>
              <a:gd name="connsiteY18" fmla="*/ 56491 h 3629561"/>
              <a:gd name="connsiteX19" fmla="*/ 3569871 w 3740294"/>
              <a:gd name="connsiteY19" fmla="*/ 635956 h 362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740294" h="3629561">
                <a:moveTo>
                  <a:pt x="3569871" y="635956"/>
                </a:moveTo>
                <a:cubicBezTo>
                  <a:pt x="3614844" y="695929"/>
                  <a:pt x="3656413" y="757347"/>
                  <a:pt x="3694603" y="819962"/>
                </a:cubicBezTo>
                <a:lnTo>
                  <a:pt x="3740294" y="903581"/>
                </a:lnTo>
                <a:lnTo>
                  <a:pt x="3740294" y="3031955"/>
                </a:lnTo>
                <a:lnTo>
                  <a:pt x="3659708" y="3161037"/>
                </a:lnTo>
                <a:cubicBezTo>
                  <a:pt x="3543426" y="3327549"/>
                  <a:pt x="3399826" y="3477959"/>
                  <a:pt x="3229678" y="3605552"/>
                </a:cubicBezTo>
                <a:lnTo>
                  <a:pt x="3193827" y="3629561"/>
                </a:lnTo>
                <a:lnTo>
                  <a:pt x="845706" y="3629561"/>
                </a:lnTo>
                <a:lnTo>
                  <a:pt x="744992" y="3561522"/>
                </a:lnTo>
                <a:cubicBezTo>
                  <a:pt x="574591" y="3434309"/>
                  <a:pt x="418599" y="3280171"/>
                  <a:pt x="283679" y="3100253"/>
                </a:cubicBezTo>
                <a:cubicBezTo>
                  <a:pt x="193732" y="2980306"/>
                  <a:pt x="117409" y="2854580"/>
                  <a:pt x="54481" y="2725064"/>
                </a:cubicBezTo>
                <a:lnTo>
                  <a:pt x="0" y="2597945"/>
                </a:lnTo>
                <a:lnTo>
                  <a:pt x="0" y="923451"/>
                </a:lnTo>
                <a:lnTo>
                  <a:pt x="86694" y="746801"/>
                </a:lnTo>
                <a:cubicBezTo>
                  <a:pt x="217341" y="511469"/>
                  <a:pt x="397009" y="300780"/>
                  <a:pt x="623873" y="130656"/>
                </a:cubicBezTo>
                <a:cubicBezTo>
                  <a:pt x="680589" y="88125"/>
                  <a:pt x="738912" y="49136"/>
                  <a:pt x="798597" y="13646"/>
                </a:cubicBezTo>
                <a:lnTo>
                  <a:pt x="824590" y="0"/>
                </a:lnTo>
                <a:lnTo>
                  <a:pt x="2830168" y="0"/>
                </a:lnTo>
                <a:lnTo>
                  <a:pt x="2933600" y="56491"/>
                </a:lnTo>
                <a:cubicBezTo>
                  <a:pt x="3172623" y="202006"/>
                  <a:pt x="3389978" y="396065"/>
                  <a:pt x="3569871" y="635956"/>
                </a:cubicBezTo>
                <a:close/>
              </a:path>
            </a:pathLst>
          </a:custGeo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19BBEF89-FDF8-579A-BA82-A399528E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C7F4-0A4A-492E-8A24-32515704EA9E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F8B705-0C64-135D-7438-7350D4FFE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B5A747-A66F-7642-1DF3-2BF8E9E4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6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AC06E-7044-8EDE-52C7-7DFE6F4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 priciples (1 from 6)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DCCEF-6A36-3483-CB51-5AEC7010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 latinLnBrk="0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Server independent from clients</a:t>
            </a:r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56801F-ABE9-CB32-C5AC-77F733FF32C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0310" y="2616722"/>
            <a:ext cx="3939659" cy="304428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AC5386-118D-A0A9-E5EF-251C2D33CD4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0800000">
            <a:off x="84277" y="3544638"/>
            <a:ext cx="3583725" cy="3459582"/>
          </a:xfrm>
          <a:custGeom>
            <a:avLst/>
            <a:gdLst>
              <a:gd name="connsiteX0" fmla="*/ 1776579 w 4714771"/>
              <a:gd name="connsiteY0" fmla="*/ 4550945 h 4551448"/>
              <a:gd name="connsiteX1" fmla="*/ 1308851 w 4714771"/>
              <a:gd name="connsiteY1" fmla="*/ 4523874 h 4551448"/>
              <a:gd name="connsiteX2" fmla="*/ 574925 w 4714771"/>
              <a:gd name="connsiteY2" fmla="*/ 4247147 h 4551448"/>
              <a:gd name="connsiteX3" fmla="*/ 165851 w 4714771"/>
              <a:gd name="connsiteY3" fmla="*/ 3128211 h 4551448"/>
              <a:gd name="connsiteX4" fmla="*/ 33504 w 4714771"/>
              <a:gd name="connsiteY4" fmla="*/ 1323474 h 4551448"/>
              <a:gd name="connsiteX5" fmla="*/ 755399 w 4714771"/>
              <a:gd name="connsiteY5" fmla="*/ 96253 h 4551448"/>
              <a:gd name="connsiteX6" fmla="*/ 1098734 w 4714771"/>
              <a:gd name="connsiteY6" fmla="*/ 18882 h 4551448"/>
              <a:gd name="connsiteX7" fmla="*/ 1210181 w 4714771"/>
              <a:gd name="connsiteY7" fmla="*/ 0 h 4551448"/>
              <a:gd name="connsiteX8" fmla="*/ 4217844 w 4714771"/>
              <a:gd name="connsiteY8" fmla="*/ 0 h 4551448"/>
              <a:gd name="connsiteX9" fmla="*/ 4222734 w 4714771"/>
              <a:gd name="connsiteY9" fmla="*/ 1565 h 4551448"/>
              <a:gd name="connsiteX10" fmla="*/ 4437062 w 4714771"/>
              <a:gd name="connsiteY10" fmla="*/ 108284 h 4551448"/>
              <a:gd name="connsiteX11" fmla="*/ 4412999 w 4714771"/>
              <a:gd name="connsiteY11" fmla="*/ 2731168 h 4551448"/>
              <a:gd name="connsiteX12" fmla="*/ 4088146 w 4714771"/>
              <a:gd name="connsiteY12" fmla="*/ 3934326 h 4551448"/>
              <a:gd name="connsiteX13" fmla="*/ 3113588 w 4714771"/>
              <a:gd name="connsiteY13" fmla="*/ 4367463 h 4551448"/>
              <a:gd name="connsiteX14" fmla="*/ 2259346 w 4714771"/>
              <a:gd name="connsiteY14" fmla="*/ 4523874 h 4551448"/>
              <a:gd name="connsiteX15" fmla="*/ 1776579 w 4714771"/>
              <a:gd name="connsiteY15" fmla="*/ 4550945 h 4551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14771" h="4551448">
                <a:moveTo>
                  <a:pt x="1776579" y="4550945"/>
                </a:moveTo>
                <a:cubicBezTo>
                  <a:pt x="1611646" y="4553452"/>
                  <a:pt x="1449220" y="4546935"/>
                  <a:pt x="1308851" y="4523874"/>
                </a:cubicBezTo>
                <a:cubicBezTo>
                  <a:pt x="1028114" y="4477753"/>
                  <a:pt x="765425" y="4479757"/>
                  <a:pt x="574925" y="4247147"/>
                </a:cubicBezTo>
                <a:cubicBezTo>
                  <a:pt x="384425" y="4014537"/>
                  <a:pt x="256088" y="3615490"/>
                  <a:pt x="165851" y="3128211"/>
                </a:cubicBezTo>
                <a:cubicBezTo>
                  <a:pt x="75614" y="2640932"/>
                  <a:pt x="-64754" y="1828800"/>
                  <a:pt x="33504" y="1323474"/>
                </a:cubicBezTo>
                <a:cubicBezTo>
                  <a:pt x="131762" y="818148"/>
                  <a:pt x="23478" y="304800"/>
                  <a:pt x="755399" y="96253"/>
                </a:cubicBezTo>
                <a:cubicBezTo>
                  <a:pt x="846889" y="70185"/>
                  <a:pt x="963508" y="43960"/>
                  <a:pt x="1098734" y="18882"/>
                </a:cubicBezTo>
                <a:lnTo>
                  <a:pt x="1210181" y="0"/>
                </a:lnTo>
                <a:lnTo>
                  <a:pt x="4217844" y="0"/>
                </a:lnTo>
                <a:lnTo>
                  <a:pt x="4222734" y="1565"/>
                </a:lnTo>
                <a:cubicBezTo>
                  <a:pt x="4307552" y="31724"/>
                  <a:pt x="4379912" y="67114"/>
                  <a:pt x="4437062" y="108284"/>
                </a:cubicBezTo>
                <a:cubicBezTo>
                  <a:pt x="5046662" y="547436"/>
                  <a:pt x="4471152" y="2093494"/>
                  <a:pt x="4412999" y="2731168"/>
                </a:cubicBezTo>
                <a:cubicBezTo>
                  <a:pt x="4354846" y="3368842"/>
                  <a:pt x="4304714" y="3661610"/>
                  <a:pt x="4088146" y="3934326"/>
                </a:cubicBezTo>
                <a:cubicBezTo>
                  <a:pt x="3871578" y="4207042"/>
                  <a:pt x="3418388" y="4269205"/>
                  <a:pt x="3113588" y="4367463"/>
                </a:cubicBezTo>
                <a:cubicBezTo>
                  <a:pt x="2808788" y="4465721"/>
                  <a:pt x="2560135" y="4497806"/>
                  <a:pt x="2259346" y="4523874"/>
                </a:cubicBezTo>
                <a:cubicBezTo>
                  <a:pt x="2108952" y="4536908"/>
                  <a:pt x="1941512" y="4548438"/>
                  <a:pt x="1776579" y="4550945"/>
                </a:cubicBezTo>
                <a:close/>
              </a:path>
            </a:pathLst>
          </a:custGeo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B80D708C-9337-0114-9FD0-474AC77A6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5FAE-AAD3-4504-A0B0-31487F88725E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E9BE5B-8332-163B-C754-EE89B852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A768EA-F006-C619-0126-AE2410A4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0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D555D0B-B1AA-A029-0D05-7D1E37EC03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48919" y="2720723"/>
            <a:ext cx="2323643" cy="31434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150E423-A840-7DF1-BF7F-8484E9A695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40600" y="2675705"/>
            <a:ext cx="1997243" cy="306335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AC06E-7044-8EDE-52C7-7DFE6F4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 priciples (2 from 6)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DCCEF-6A36-3483-CB51-5AEC7010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 latinLnBrk="0">
              <a:buFont typeface="Arial" panose="020B0604020202020204" pitchFamily="34" charset="0"/>
              <a:buChar char="•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var(--stk-f_family)"/>
              </a:rPr>
              <a:t>Statelessness.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CA7144-0D23-2CA1-D7E4-36BE8FF28AE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675705"/>
            <a:ext cx="4945083" cy="31884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784017-44DE-6658-3093-808AE780B53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6681" y="2675705"/>
            <a:ext cx="4945083" cy="3188436"/>
          </a:xfrm>
          <a:prstGeom prst="rect">
            <a:avLst/>
          </a:prstGeo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C0D595A5-175C-A3A2-01C3-9A8EE5E1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154C-BDD6-423B-BDAE-E30742C7FF4A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3505D6-123B-7BAB-EDE0-17C5B222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EBEDFC9-FEDA-F651-3A67-C820CA9A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2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AC06E-7044-8EDE-52C7-7DFE6F4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 priciples (3 from 6)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DCCEF-6A36-3483-CB51-5AEC7010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 latinLnBrk="0">
              <a:buFont typeface="Arial" panose="020B0604020202020204" pitchFamily="34" charset="0"/>
              <a:buChar char="•"/>
            </a:pPr>
            <a:r>
              <a:rPr lang="ru-RU">
                <a:solidFill>
                  <a:srgbClr val="000000"/>
                </a:solidFill>
                <a:latin typeface="var(--stk-f_family)"/>
              </a:rPr>
              <a:t>С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var(--stk-f_family)"/>
              </a:rPr>
              <a:t>acheability.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1026" name="Picture 2" descr="Type of Cache">
            <a:extLst>
              <a:ext uri="{FF2B5EF4-FFF2-40B4-BE49-F238E27FC236}">
                <a16:creationId xmlns:a16="http://schemas.microsoft.com/office/drawing/2014/main" id="{25E31C30-C65D-B4D3-D034-069D89888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99930" y="2352182"/>
            <a:ext cx="8925737" cy="326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682B90-A546-2C17-147A-5C65DF65F99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235342" y="0"/>
            <a:ext cx="1956658" cy="2767263"/>
          </a:xfrm>
          <a:prstGeom prst="rect">
            <a:avLst/>
          </a:prstGeo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C0EAD327-01F0-5528-3B1E-51B79EB2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4892-B8A7-4310-8EDD-326406E01C4B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0E1C04-A654-C97D-9699-B1402F7B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CB57A0-D93B-1611-A6A5-35B225A2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1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AC06E-7044-8EDE-52C7-7DFE6F4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 priciples (4 from 6)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DCCEF-6A36-3483-CB51-5AEC7010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 latinLnBrk="0">
              <a:buFont typeface="Arial" panose="020B0604020202020204" pitchFamily="34" charset="0"/>
              <a:buChar char="•"/>
            </a:pPr>
            <a:r>
              <a:rPr lang="de-DE">
                <a:solidFill>
                  <a:srgbClr val="000000"/>
                </a:solidFill>
                <a:latin typeface="var(--stk-f_family)"/>
              </a:rPr>
              <a:t>U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var(--stk-f_family)"/>
              </a:rPr>
              <a:t>niform interface.</a:t>
            </a:r>
          </a:p>
          <a:p>
            <a:pPr algn="l" fontAlgn="base" latinLnBrk="0">
              <a:buFont typeface="Arial" panose="020B0604020202020204" pitchFamily="34" charset="0"/>
              <a:buChar char="•"/>
            </a:pPr>
            <a:endParaRPr lang="ru-RU" b="0" i="0" u="none" strike="noStrike">
              <a:solidFill>
                <a:srgbClr val="000000"/>
              </a:solidFill>
              <a:effectLst/>
              <a:latin typeface="var(--stk-f_family)"/>
            </a:endParaRPr>
          </a:p>
          <a:p>
            <a:endParaRPr lang="en-US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2AC8D96-CBDB-3B86-6FB9-C877BC3C973C}"/>
              </a:ext>
            </a:extLst>
          </p:cNvPr>
          <p:cNvGrpSpPr/>
          <p:nvPr/>
        </p:nvGrpSpPr>
        <p:grpSpPr>
          <a:xfrm>
            <a:off x="2452885" y="3322181"/>
            <a:ext cx="7286230" cy="1137425"/>
            <a:chOff x="1215481" y="3334213"/>
            <a:chExt cx="7286230" cy="113742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8EA85A70-BFF9-8869-94F4-C4A2261443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15481" y="3334213"/>
              <a:ext cx="6142091" cy="1137425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8CB06384-BD9D-6C24-3D5C-7AE3005D3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52164" y="3334213"/>
              <a:ext cx="844705" cy="84470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3DCA82-28D9-9AAE-F344-2B42DC77F797}"/>
                </a:ext>
              </a:extLst>
            </p:cNvPr>
            <p:cNvSpPr txBox="1"/>
            <p:nvPr/>
          </p:nvSpPr>
          <p:spPr>
            <a:xfrm>
              <a:off x="7447320" y="4102306"/>
              <a:ext cx="1054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>
                  <a:solidFill>
                    <a:schemeClr val="accent1">
                      <a:lumMod val="50000"/>
                    </a:schemeClr>
                  </a:solidFill>
                </a:rPr>
                <a:t>OPTIONS</a:t>
              </a:r>
              <a:endParaRPr lang="en-US" b="1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DF4177-C9BA-CF7B-E227-1496EDB053A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416215" y="4331226"/>
            <a:ext cx="1359570" cy="2963728"/>
          </a:xfrm>
          <a:prstGeom prst="rect">
            <a:avLst/>
          </a:prstGeom>
        </p:spPr>
      </p:pic>
      <p:sp>
        <p:nvSpPr>
          <p:cNvPr id="6" name="Дата 5">
            <a:extLst>
              <a:ext uri="{FF2B5EF4-FFF2-40B4-BE49-F238E27FC236}">
                <a16:creationId xmlns:a16="http://schemas.microsoft.com/office/drawing/2014/main" id="{41F54430-0807-7CCA-1E6B-009BBE85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7D4AF-21AC-4317-A844-DC75D4483A33}" type="datetime1">
              <a:rPr lang="en-US" smtClean="0"/>
              <a:t>7/26/2025</a:t>
            </a:fld>
            <a:endParaRPr lang="en-US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017B1847-D836-4AB4-62A8-2B77820BE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540BD62A-19EF-7079-FF44-5AD11A9C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6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AC06E-7044-8EDE-52C7-7DFE6F4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Ins="0"/>
          <a:lstStyle/>
          <a:p>
            <a:r>
              <a:rPr lang="en-US"/>
              <a:t>REST priciples (5 from 6)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DCCEF-6A36-3483-CB51-5AEC7010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 latinLnBrk="0">
              <a:buFont typeface="Arial" panose="020B0604020202020204" pitchFamily="34" charset="0"/>
              <a:buChar char="•"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var(--stk-f_family)"/>
              </a:rPr>
              <a:t>Layered server system.</a:t>
            </a:r>
          </a:p>
          <a:p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B70BF4-2707-E9E4-DFD9-4AD76FDD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244F-3FED-4C1B-B33F-4E11FC1E7B0D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85CCCB-36B3-ADBC-FD5E-CC8FA4B0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15D675-5DC7-90E9-5E81-0DDFA6C8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11</a:t>
            </a:fld>
            <a:endParaRPr lang="en-US"/>
          </a:p>
        </p:txBody>
      </p:sp>
      <p:sp>
        <p:nvSpPr>
          <p:cNvPr id="8" name="Блок-схема: знак завершения 7">
            <a:extLst>
              <a:ext uri="{FF2B5EF4-FFF2-40B4-BE49-F238E27FC236}">
                <a16:creationId xmlns:a16="http://schemas.microsoft.com/office/drawing/2014/main" id="{3C3F9715-B32B-4874-28CF-8692DC7F0695}"/>
              </a:ext>
            </a:extLst>
          </p:cNvPr>
          <p:cNvSpPr/>
          <p:nvPr/>
        </p:nvSpPr>
        <p:spPr>
          <a:xfrm>
            <a:off x="4978771" y="2652961"/>
            <a:ext cx="1034716" cy="2175005"/>
          </a:xfrm>
          <a:prstGeom prst="flowChartTerminator">
            <a:avLst/>
          </a:prstGeom>
          <a:solidFill>
            <a:srgbClr val="FFA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 anchorCtr="1"/>
          <a:lstStyle/>
          <a:p>
            <a:pPr algn="ctr">
              <a:lnSpc>
                <a:spcPts val="1800"/>
              </a:lnSpc>
            </a:pPr>
            <a:r>
              <a:rPr lang="de-DE" b="1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rPr>
              <a:t>G</a:t>
            </a:r>
          </a:p>
          <a:p>
            <a:pPr algn="ctr">
              <a:lnSpc>
                <a:spcPts val="2000"/>
              </a:lnSpc>
            </a:pPr>
            <a:r>
              <a:rPr lang="de-DE" b="1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rPr>
              <a:t>A</a:t>
            </a:r>
          </a:p>
          <a:p>
            <a:pPr algn="ctr">
              <a:lnSpc>
                <a:spcPts val="2000"/>
              </a:lnSpc>
            </a:pPr>
            <a:r>
              <a:rPr lang="de-DE" b="1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rPr>
              <a:t>T</a:t>
            </a:r>
          </a:p>
          <a:p>
            <a:pPr algn="ctr">
              <a:lnSpc>
                <a:spcPts val="2000"/>
              </a:lnSpc>
            </a:pPr>
            <a:r>
              <a:rPr lang="de-DE" b="1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rPr>
              <a:t>E</a:t>
            </a:r>
          </a:p>
          <a:p>
            <a:pPr algn="ctr">
              <a:lnSpc>
                <a:spcPts val="2000"/>
              </a:lnSpc>
            </a:pPr>
            <a:r>
              <a:rPr lang="de-DE" b="1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rPr>
              <a:t>W</a:t>
            </a:r>
          </a:p>
          <a:p>
            <a:pPr algn="ctr">
              <a:lnSpc>
                <a:spcPts val="2000"/>
              </a:lnSpc>
            </a:pPr>
            <a:r>
              <a:rPr lang="de-DE" b="1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rPr>
              <a:t>A</a:t>
            </a:r>
          </a:p>
          <a:p>
            <a:pPr algn="ctr">
              <a:lnSpc>
                <a:spcPts val="2000"/>
              </a:lnSpc>
            </a:pPr>
            <a:r>
              <a:rPr lang="de-DE" b="1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rPr>
              <a:t>Y</a:t>
            </a:r>
            <a:endParaRPr lang="en-US" b="1">
              <a:ln>
                <a:solidFill>
                  <a:schemeClr val="accent1">
                    <a:shade val="15000"/>
                  </a:schemeClr>
                </a:solidFill>
              </a:ln>
              <a:noFill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BCD423C-75E0-1E47-8ECA-1AD7A4E7514A}"/>
              </a:ext>
            </a:extLst>
          </p:cNvPr>
          <p:cNvSpPr/>
          <p:nvPr/>
        </p:nvSpPr>
        <p:spPr>
          <a:xfrm>
            <a:off x="8044060" y="4001294"/>
            <a:ext cx="967594" cy="1871162"/>
          </a:xfrm>
          <a:prstGeom prst="roundRect">
            <a:avLst/>
          </a:prstGeom>
          <a:solidFill>
            <a:srgbClr val="FF8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de-DE" b="1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rPr>
              <a:t>PROXY</a:t>
            </a:r>
            <a:endParaRPr lang="en-US" b="1">
              <a:ln>
                <a:solidFill>
                  <a:schemeClr val="accent1">
                    <a:shade val="15000"/>
                  </a:schemeClr>
                </a:solidFill>
              </a:ln>
              <a:noFill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72FF5332-F132-C1A8-A859-49E6130AA2B9}"/>
              </a:ext>
            </a:extLst>
          </p:cNvPr>
          <p:cNvGrpSpPr/>
          <p:nvPr/>
        </p:nvGrpSpPr>
        <p:grpSpPr>
          <a:xfrm>
            <a:off x="1776240" y="5030701"/>
            <a:ext cx="1034716" cy="1058779"/>
            <a:chOff x="1780673" y="2598819"/>
            <a:chExt cx="1034716" cy="1058779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FD47FCA3-28E0-765C-C1E3-89447FC15FD8}"/>
                </a:ext>
              </a:extLst>
            </p:cNvPr>
            <p:cNvSpPr/>
            <p:nvPr/>
          </p:nvSpPr>
          <p:spPr>
            <a:xfrm>
              <a:off x="1780673" y="2598819"/>
              <a:ext cx="1034716" cy="1058779"/>
            </a:xfrm>
            <a:prstGeom prst="roundRect">
              <a:avLst/>
            </a:prstGeom>
            <a:solidFill>
              <a:srgbClr val="B3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chemeClr val="accent1">
                        <a:shade val="15000"/>
                      </a:schemeClr>
                    </a:solidFill>
                  </a:ln>
                  <a:noFill/>
                </a:rPr>
                <a:t>Client </a:t>
              </a:r>
              <a:r>
                <a:rPr lang="ru-RU">
                  <a:ln>
                    <a:solidFill>
                      <a:schemeClr val="accent1">
                        <a:shade val="15000"/>
                      </a:schemeClr>
                    </a:solidFill>
                  </a:ln>
                  <a:noFill/>
                </a:rPr>
                <a:t>3</a:t>
              </a:r>
              <a:endParaRPr lang="en-US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9CA8D3E1-744A-D385-092A-59BF48485EAC}"/>
                </a:ext>
              </a:extLst>
            </p:cNvPr>
            <p:cNvSpPr/>
            <p:nvPr/>
          </p:nvSpPr>
          <p:spPr>
            <a:xfrm>
              <a:off x="2376764" y="3249613"/>
              <a:ext cx="433137" cy="407985"/>
            </a:xfrm>
            <a:prstGeom prst="ellipse">
              <a:avLst/>
            </a:prstGeom>
            <a:solidFill>
              <a:srgbClr val="EAB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>
                  <a:ln>
                    <a:solidFill>
                      <a:schemeClr val="accent1"/>
                    </a:solidFill>
                  </a:ln>
                  <a:noFill/>
                </a:rPr>
                <a:t>I</a:t>
              </a:r>
              <a:endParaRPr lang="en-US" b="1">
                <a:ln>
                  <a:solidFill>
                    <a:schemeClr val="accent1"/>
                  </a:solidFill>
                </a:ln>
                <a:noFill/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5AFE1C38-7586-C0AF-027A-7223A0006BC7}"/>
              </a:ext>
            </a:extLst>
          </p:cNvPr>
          <p:cNvGrpSpPr/>
          <p:nvPr/>
        </p:nvGrpSpPr>
        <p:grpSpPr>
          <a:xfrm>
            <a:off x="9866938" y="2777770"/>
            <a:ext cx="1406642" cy="1351669"/>
            <a:chOff x="7121215" y="1608099"/>
            <a:chExt cx="1406642" cy="1351669"/>
          </a:xfrm>
          <a:solidFill>
            <a:srgbClr val="E6B6FF"/>
          </a:solidFill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1BBA95A0-3CF5-556C-9C6D-420CCBA452DF}"/>
                </a:ext>
              </a:extLst>
            </p:cNvPr>
            <p:cNvSpPr/>
            <p:nvPr/>
          </p:nvSpPr>
          <p:spPr>
            <a:xfrm flipH="1">
              <a:off x="7213230" y="1608099"/>
              <a:ext cx="1314627" cy="135166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Ins="0" rtlCol="0" anchor="ctr"/>
            <a:lstStyle/>
            <a:p>
              <a:pPr algn="ctr"/>
              <a:r>
                <a:rPr lang="de-DE">
                  <a:ln>
                    <a:solidFill>
                      <a:schemeClr val="tx1"/>
                    </a:solidFill>
                  </a:ln>
                  <a:noFill/>
                </a:rPr>
                <a:t>1</a:t>
              </a:r>
            </a:p>
            <a:p>
              <a:pPr algn="ctr"/>
              <a:r>
                <a:rPr lang="de-DE">
                  <a:ln>
                    <a:solidFill>
                      <a:schemeClr val="tx1"/>
                    </a:solidFill>
                  </a:ln>
                  <a:noFill/>
                </a:rPr>
                <a:t>Server</a:t>
              </a:r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4DB3F92E-7CF5-3D92-77ED-0929000F2212}"/>
                </a:ext>
              </a:extLst>
            </p:cNvPr>
            <p:cNvSpPr/>
            <p:nvPr/>
          </p:nvSpPr>
          <p:spPr>
            <a:xfrm flipH="1">
              <a:off x="7121217" y="2551783"/>
              <a:ext cx="433137" cy="407985"/>
            </a:xfrm>
            <a:prstGeom prst="ellipse">
              <a:avLst/>
            </a:prstGeom>
            <a:solidFill>
              <a:srgbClr val="FB93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chemeClr val="tx1"/>
                    </a:solidFill>
                  </a:ln>
                  <a:noFill/>
                </a:rPr>
                <a:t>D</a:t>
              </a:r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1FB697F0-DC28-4893-A277-B7FC6DA9233F}"/>
                </a:ext>
              </a:extLst>
            </p:cNvPr>
            <p:cNvSpPr/>
            <p:nvPr/>
          </p:nvSpPr>
          <p:spPr>
            <a:xfrm flipH="1">
              <a:off x="7121216" y="2244977"/>
              <a:ext cx="433137" cy="407985"/>
            </a:xfrm>
            <a:prstGeom prst="ellipse">
              <a:avLst/>
            </a:prstGeom>
            <a:solidFill>
              <a:srgbClr val="FFC7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chemeClr val="tx1"/>
                    </a:solidFill>
                  </a:ln>
                  <a:noFill/>
                </a:rPr>
                <a:t>U</a:t>
              </a:r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7A734754-2150-17E4-3F3F-B14A09AEAA3A}"/>
                </a:ext>
              </a:extLst>
            </p:cNvPr>
            <p:cNvSpPr/>
            <p:nvPr/>
          </p:nvSpPr>
          <p:spPr>
            <a:xfrm flipH="1">
              <a:off x="7121215" y="1929693"/>
              <a:ext cx="433137" cy="407985"/>
            </a:xfrm>
            <a:prstGeom prst="ellipse">
              <a:avLst/>
            </a:prstGeom>
            <a:solidFill>
              <a:srgbClr val="F3FF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chemeClr val="tx1"/>
                    </a:solidFill>
                  </a:ln>
                  <a:noFill/>
                </a:rPr>
                <a:t>R</a:t>
              </a:r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63008D76-9A04-CD80-1A47-27C151E9B545}"/>
                </a:ext>
              </a:extLst>
            </p:cNvPr>
            <p:cNvSpPr/>
            <p:nvPr/>
          </p:nvSpPr>
          <p:spPr>
            <a:xfrm flipH="1">
              <a:off x="7121215" y="1608099"/>
              <a:ext cx="433137" cy="407985"/>
            </a:xfrm>
            <a:prstGeom prst="ellipse">
              <a:avLst/>
            </a:prstGeom>
            <a:solidFill>
              <a:srgbClr val="8A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chemeClr val="tx1"/>
                    </a:solidFill>
                  </a:ln>
                  <a:noFill/>
                </a:rPr>
                <a:t>C</a:t>
              </a:r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A2F24AA5-CEC9-A401-935A-EBD5E9425B84}"/>
              </a:ext>
            </a:extLst>
          </p:cNvPr>
          <p:cNvGrpSpPr/>
          <p:nvPr/>
        </p:nvGrpSpPr>
        <p:grpSpPr>
          <a:xfrm>
            <a:off x="1775185" y="3792535"/>
            <a:ext cx="1034716" cy="1058779"/>
            <a:chOff x="1780673" y="2598819"/>
            <a:chExt cx="1034716" cy="1058779"/>
          </a:xfrm>
          <a:solidFill>
            <a:srgbClr val="EAB5FF"/>
          </a:solidFill>
        </p:grpSpPr>
        <p:sp>
          <p:nvSpPr>
            <p:cNvPr id="32" name="Прямоугольник: скругленные углы 31">
              <a:extLst>
                <a:ext uri="{FF2B5EF4-FFF2-40B4-BE49-F238E27FC236}">
                  <a16:creationId xmlns:a16="http://schemas.microsoft.com/office/drawing/2014/main" id="{C82FF1EF-BE9D-6935-A460-34209AC6D14A}"/>
                </a:ext>
              </a:extLst>
            </p:cNvPr>
            <p:cNvSpPr/>
            <p:nvPr/>
          </p:nvSpPr>
          <p:spPr>
            <a:xfrm>
              <a:off x="1780673" y="2598819"/>
              <a:ext cx="1034716" cy="1058779"/>
            </a:xfrm>
            <a:prstGeom prst="roundRect">
              <a:avLst/>
            </a:prstGeom>
            <a:solidFill>
              <a:srgbClr val="B3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chemeClr val="accent1">
                        <a:shade val="15000"/>
                      </a:schemeClr>
                    </a:solidFill>
                  </a:ln>
                  <a:noFill/>
                </a:rPr>
                <a:t>Client </a:t>
              </a:r>
              <a:r>
                <a:rPr lang="ru-RU">
                  <a:ln>
                    <a:solidFill>
                      <a:schemeClr val="accent1">
                        <a:shade val="15000"/>
                      </a:schemeClr>
                    </a:solidFill>
                  </a:ln>
                  <a:noFill/>
                </a:rPr>
                <a:t>2</a:t>
              </a:r>
              <a:endParaRPr lang="en-US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endParaRPr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45181408-61B4-0C70-EB3D-BA5F7D53EF83}"/>
                </a:ext>
              </a:extLst>
            </p:cNvPr>
            <p:cNvSpPr/>
            <p:nvPr/>
          </p:nvSpPr>
          <p:spPr>
            <a:xfrm>
              <a:off x="2376764" y="3249613"/>
              <a:ext cx="433137" cy="4079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>
                  <a:ln>
                    <a:solidFill>
                      <a:schemeClr val="accent1">
                        <a:shade val="15000"/>
                      </a:schemeClr>
                    </a:solidFill>
                  </a:ln>
                  <a:noFill/>
                </a:rPr>
                <a:t>I</a:t>
              </a:r>
              <a:endParaRPr lang="en-US" b="1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endParaRP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F099C0A1-E287-4EE0-722F-0B317453FA5F}"/>
              </a:ext>
            </a:extLst>
          </p:cNvPr>
          <p:cNvGrpSpPr/>
          <p:nvPr/>
        </p:nvGrpSpPr>
        <p:grpSpPr>
          <a:xfrm>
            <a:off x="1776240" y="2559861"/>
            <a:ext cx="1034716" cy="1058779"/>
            <a:chOff x="1780673" y="2598819"/>
            <a:chExt cx="1034716" cy="1058779"/>
          </a:xfrm>
          <a:solidFill>
            <a:srgbClr val="B3FFFF"/>
          </a:solidFill>
        </p:grpSpPr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1A40227E-5A08-AA14-9333-04BF9D913D24}"/>
                </a:ext>
              </a:extLst>
            </p:cNvPr>
            <p:cNvSpPr/>
            <p:nvPr/>
          </p:nvSpPr>
          <p:spPr>
            <a:xfrm>
              <a:off x="1780673" y="2598819"/>
              <a:ext cx="1034716" cy="105877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chemeClr val="accent1">
                        <a:shade val="15000"/>
                      </a:schemeClr>
                    </a:solidFill>
                  </a:ln>
                  <a:noFill/>
                </a:rPr>
                <a:t>Client 1</a:t>
              </a:r>
              <a:endParaRPr lang="en-US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endParaRPr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DC0903E2-79E7-18AE-8405-0081B013EA6C}"/>
                </a:ext>
              </a:extLst>
            </p:cNvPr>
            <p:cNvSpPr/>
            <p:nvPr/>
          </p:nvSpPr>
          <p:spPr>
            <a:xfrm>
              <a:off x="2376764" y="3249613"/>
              <a:ext cx="433137" cy="407985"/>
            </a:xfrm>
            <a:prstGeom prst="ellipse">
              <a:avLst/>
            </a:prstGeom>
            <a:solidFill>
              <a:srgbClr val="EAB5FF"/>
            </a:solidFill>
            <a:ln>
              <a:solidFill>
                <a:srgbClr val="EAB5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>
                  <a:ln>
                    <a:solidFill>
                      <a:schemeClr val="accent1">
                        <a:shade val="15000"/>
                      </a:schemeClr>
                    </a:solidFill>
                  </a:ln>
                  <a:noFill/>
                </a:rPr>
                <a:t>I</a:t>
              </a:r>
              <a:endParaRPr lang="en-US" b="1">
                <a:ln>
                  <a:solidFill>
                    <a:schemeClr val="accent1">
                      <a:shade val="15000"/>
                    </a:schemeClr>
                  </a:solidFill>
                </a:ln>
                <a:noFill/>
              </a:endParaRPr>
            </a:p>
          </p:txBody>
        </p:sp>
      </p:grp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D2C37049-7AEB-1DBE-BDBD-623D25F23CE2}"/>
              </a:ext>
            </a:extLst>
          </p:cNvPr>
          <p:cNvCxnSpPr/>
          <p:nvPr/>
        </p:nvCxnSpPr>
        <p:spPr>
          <a:xfrm>
            <a:off x="2959768" y="3047224"/>
            <a:ext cx="1852864" cy="516418"/>
          </a:xfrm>
          <a:prstGeom prst="straightConnector1">
            <a:avLst/>
          </a:prstGeom>
          <a:ln w="76200">
            <a:solidFill>
              <a:srgbClr val="FFC797"/>
            </a:solidFill>
            <a:headEnd type="stealth" w="med" len="med"/>
            <a:tailEnd type="stealth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B45FDAB7-E663-C20F-8D6C-71179E5AFDBF}"/>
              </a:ext>
            </a:extLst>
          </p:cNvPr>
          <p:cNvCxnSpPr>
            <a:cxnSpLocks/>
          </p:cNvCxnSpPr>
          <p:nvPr/>
        </p:nvCxnSpPr>
        <p:spPr>
          <a:xfrm flipV="1">
            <a:off x="2901914" y="3925446"/>
            <a:ext cx="1933072" cy="396478"/>
          </a:xfrm>
          <a:prstGeom prst="straightConnector1">
            <a:avLst/>
          </a:prstGeom>
          <a:ln w="76200">
            <a:solidFill>
              <a:srgbClr val="FFC797"/>
            </a:solidFill>
            <a:headEnd type="stealth" w="med" len="med"/>
            <a:tailEnd type="stealth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B5792611-8CB2-A61E-95B8-434DE33B1E9B}"/>
              </a:ext>
            </a:extLst>
          </p:cNvPr>
          <p:cNvCxnSpPr>
            <a:cxnSpLocks/>
          </p:cNvCxnSpPr>
          <p:nvPr/>
        </p:nvCxnSpPr>
        <p:spPr>
          <a:xfrm flipV="1">
            <a:off x="2896426" y="5260852"/>
            <a:ext cx="5141091" cy="306805"/>
          </a:xfrm>
          <a:prstGeom prst="straightConnector1">
            <a:avLst/>
          </a:prstGeom>
          <a:ln w="76200">
            <a:solidFill>
              <a:srgbClr val="FFC797"/>
            </a:solidFill>
            <a:headEnd type="stealth" w="med" len="med"/>
            <a:tailEnd type="stealth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0DE9CB83-E10B-94F1-8BCC-99BB4F93A365}"/>
              </a:ext>
            </a:extLst>
          </p:cNvPr>
          <p:cNvCxnSpPr>
            <a:cxnSpLocks/>
          </p:cNvCxnSpPr>
          <p:nvPr/>
        </p:nvCxnSpPr>
        <p:spPr>
          <a:xfrm flipV="1">
            <a:off x="9031923" y="4945569"/>
            <a:ext cx="835015" cy="10776"/>
          </a:xfrm>
          <a:prstGeom prst="straightConnector1">
            <a:avLst/>
          </a:prstGeom>
          <a:ln w="76200">
            <a:solidFill>
              <a:srgbClr val="FFC797"/>
            </a:solidFill>
            <a:headEnd type="stealth" w="med" len="med"/>
            <a:tailEnd type="stealth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D53C7E59-4CAE-2E3E-17E9-2E0C07342C82}"/>
              </a:ext>
            </a:extLst>
          </p:cNvPr>
          <p:cNvCxnSpPr>
            <a:cxnSpLocks/>
            <a:endCxn id="28" idx="5"/>
          </p:cNvCxnSpPr>
          <p:nvPr/>
        </p:nvCxnSpPr>
        <p:spPr>
          <a:xfrm flipV="1">
            <a:off x="6001268" y="3447601"/>
            <a:ext cx="3929101" cy="104700"/>
          </a:xfrm>
          <a:prstGeom prst="straightConnector1">
            <a:avLst/>
          </a:prstGeom>
          <a:ln w="76200">
            <a:solidFill>
              <a:srgbClr val="FFC797"/>
            </a:solidFill>
            <a:headEnd type="stealth" w="med" len="med"/>
            <a:tailEnd type="stealth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FF36EBCB-7D6B-324B-F765-601EC2A803F9}"/>
              </a:ext>
            </a:extLst>
          </p:cNvPr>
          <p:cNvCxnSpPr>
            <a:cxnSpLocks/>
          </p:cNvCxnSpPr>
          <p:nvPr/>
        </p:nvCxnSpPr>
        <p:spPr>
          <a:xfrm>
            <a:off x="6096000" y="3996528"/>
            <a:ext cx="1838719" cy="930150"/>
          </a:xfrm>
          <a:prstGeom prst="straightConnector1">
            <a:avLst/>
          </a:prstGeom>
          <a:ln w="76200">
            <a:solidFill>
              <a:srgbClr val="FFC797"/>
            </a:solidFill>
            <a:headEnd type="stealth" w="med" len="med"/>
            <a:tailEnd type="stealth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650CA2B5-D6C0-1C2A-883A-59CA264CBA0E}"/>
              </a:ext>
            </a:extLst>
          </p:cNvPr>
          <p:cNvGrpSpPr/>
          <p:nvPr/>
        </p:nvGrpSpPr>
        <p:grpSpPr>
          <a:xfrm>
            <a:off x="9912945" y="4304260"/>
            <a:ext cx="1406642" cy="1351669"/>
            <a:chOff x="7121215" y="1608099"/>
            <a:chExt cx="1406642" cy="1351669"/>
          </a:xfrm>
          <a:solidFill>
            <a:srgbClr val="E6B6FF"/>
          </a:solidFill>
        </p:grpSpPr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9085E77C-0F3A-CE15-A318-4FDD4ADD7447}"/>
                </a:ext>
              </a:extLst>
            </p:cNvPr>
            <p:cNvSpPr/>
            <p:nvPr/>
          </p:nvSpPr>
          <p:spPr>
            <a:xfrm flipH="1">
              <a:off x="7213230" y="1608099"/>
              <a:ext cx="1314627" cy="135166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Ins="0" rtlCol="0" anchor="ctr"/>
            <a:lstStyle/>
            <a:p>
              <a:pPr algn="ctr"/>
              <a:r>
                <a:rPr lang="ru-RU">
                  <a:ln>
                    <a:solidFill>
                      <a:schemeClr val="tx1"/>
                    </a:solidFill>
                  </a:ln>
                  <a:noFill/>
                </a:rPr>
                <a:t>2</a:t>
              </a:r>
              <a:endParaRPr lang="de-DE">
                <a:ln>
                  <a:solidFill>
                    <a:schemeClr val="tx1"/>
                  </a:solidFill>
                </a:ln>
                <a:noFill/>
              </a:endParaRPr>
            </a:p>
            <a:p>
              <a:pPr algn="ctr"/>
              <a:r>
                <a:rPr lang="de-DE">
                  <a:ln>
                    <a:solidFill>
                      <a:schemeClr val="tx1"/>
                    </a:solidFill>
                  </a:ln>
                  <a:noFill/>
                </a:rPr>
                <a:t>Server</a:t>
              </a:r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56" name="Овал 55">
              <a:extLst>
                <a:ext uri="{FF2B5EF4-FFF2-40B4-BE49-F238E27FC236}">
                  <a16:creationId xmlns:a16="http://schemas.microsoft.com/office/drawing/2014/main" id="{ACC8429E-3D3C-EA3E-E0D3-E00412C20E49}"/>
                </a:ext>
              </a:extLst>
            </p:cNvPr>
            <p:cNvSpPr/>
            <p:nvPr/>
          </p:nvSpPr>
          <p:spPr>
            <a:xfrm flipH="1">
              <a:off x="7121217" y="2551783"/>
              <a:ext cx="433137" cy="407985"/>
            </a:xfrm>
            <a:prstGeom prst="ellipse">
              <a:avLst/>
            </a:prstGeom>
            <a:solidFill>
              <a:srgbClr val="FB93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chemeClr val="tx1"/>
                    </a:solidFill>
                  </a:ln>
                  <a:noFill/>
                </a:rPr>
                <a:t>D</a:t>
              </a:r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57" name="Овал 56">
              <a:extLst>
                <a:ext uri="{FF2B5EF4-FFF2-40B4-BE49-F238E27FC236}">
                  <a16:creationId xmlns:a16="http://schemas.microsoft.com/office/drawing/2014/main" id="{C6D7868B-4C47-3A22-7A58-D857823E9ECE}"/>
                </a:ext>
              </a:extLst>
            </p:cNvPr>
            <p:cNvSpPr/>
            <p:nvPr/>
          </p:nvSpPr>
          <p:spPr>
            <a:xfrm flipH="1">
              <a:off x="7121216" y="2244977"/>
              <a:ext cx="433137" cy="407985"/>
            </a:xfrm>
            <a:prstGeom prst="ellipse">
              <a:avLst/>
            </a:prstGeom>
            <a:solidFill>
              <a:srgbClr val="FFC7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chemeClr val="tx1"/>
                    </a:solidFill>
                  </a:ln>
                  <a:noFill/>
                </a:rPr>
                <a:t>U</a:t>
              </a:r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58" name="Овал 57">
              <a:extLst>
                <a:ext uri="{FF2B5EF4-FFF2-40B4-BE49-F238E27FC236}">
                  <a16:creationId xmlns:a16="http://schemas.microsoft.com/office/drawing/2014/main" id="{5B194EDC-B8D3-854D-392F-0DA30CDFD421}"/>
                </a:ext>
              </a:extLst>
            </p:cNvPr>
            <p:cNvSpPr/>
            <p:nvPr/>
          </p:nvSpPr>
          <p:spPr>
            <a:xfrm flipH="1">
              <a:off x="7121215" y="1929693"/>
              <a:ext cx="433137" cy="407985"/>
            </a:xfrm>
            <a:prstGeom prst="ellipse">
              <a:avLst/>
            </a:prstGeom>
            <a:solidFill>
              <a:srgbClr val="F3FF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chemeClr val="tx1"/>
                    </a:solidFill>
                  </a:ln>
                  <a:noFill/>
                </a:rPr>
                <a:t>R</a:t>
              </a:r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A1C2EAE3-42CF-4D80-BD8A-BDA9E164BA39}"/>
                </a:ext>
              </a:extLst>
            </p:cNvPr>
            <p:cNvSpPr/>
            <p:nvPr/>
          </p:nvSpPr>
          <p:spPr>
            <a:xfrm flipH="1">
              <a:off x="7121215" y="1608099"/>
              <a:ext cx="433137" cy="407985"/>
            </a:xfrm>
            <a:prstGeom prst="ellipse">
              <a:avLst/>
            </a:prstGeom>
            <a:solidFill>
              <a:srgbClr val="8A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chemeClr val="tx1"/>
                    </a:solidFill>
                  </a:ln>
                  <a:noFill/>
                </a:rPr>
                <a:t>C</a:t>
              </a:r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</p:grpSp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E0F391D0-3DF7-2C25-D39D-A590E0943B9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4449" y="5158371"/>
            <a:ext cx="286319" cy="308899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A24F25B5-11F6-56C4-8C72-5557BA333B1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8198" y="2670644"/>
            <a:ext cx="286319" cy="30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4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2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5 0.00092 L 0.00105 0.00092 C 0.03672 0.00277 0.04623 0.00463 0.08698 -0.00093 C 0.10769 -0.00371 0.12839 -0.00834 0.14909 -0.0132 C 0.16068 -0.01598 0.17214 -0.01968 0.1836 -0.02361 C 0.20691 -0.03218 0.18802 -0.02917 0.20925 -0.03611 C 0.2125 -0.03704 0.21589 -0.03727 0.21914 -0.03773 C 0.22631 -0.03519 0.2431 -0.02871 0.2517 -0.02732 C 0.2612 -0.0257 0.27084 -0.025 0.28034 -0.02361 C 0.28516 -0.02037 0.30469 -0.00648 0.30899 -0.00625 C 0.31784 -0.00556 0.3267 -0.00973 0.33568 -0.01135 C 0.33763 -0.0125 0.33972 -0.0132 0.34154 -0.01505 C 0.34362 -0.0169 0.34532 -0.02014 0.3474 -0.02199 C 0.34974 -0.02408 0.35118 -0.02361 0.35339 -0.02361 L 0.35339 -0.02361 C 0.35039 -0.025 0.34727 -0.025 0.34454 -0.02732 C 0.32357 -0.04352 0.31107 -0.05718 0.29219 -0.07639 C 0.28685 -0.09074 0.29571 -0.06991 0.2823 -0.08334 C 0.27683 -0.08889 0.27214 -0.09676 0.26758 -0.1044 C 0.26107 -0.11528 0.26107 -0.12385 0.25365 -0.13241 C 0.2474 -0.13982 0.23399 -0.15185 0.23399 -0.15185 L 0.23399 -0.15185 C 0.23295 -0.21158 0.23295 -0.19051 0.23295 -0.21505 L 0.23295 -0.21505 C 0.26433 -0.22408 0.27839 -0.23079 0.30899 -0.23079 C 0.31849 -0.23079 0.328 -0.22824 0.33763 -0.22732 C 0.35534 -0.22547 0.38125 -0.22454 0.39779 -0.22385 C 0.40235 -0.225 0.40704 -0.2257 0.41159 -0.22732 C 0.42071 -0.23056 0.42383 -0.23357 0.4323 -0.23959 C 0.44024 -0.23843 0.44831 -0.23912 0.45599 -0.23611 C 0.46849 -0.23125 0.46185 -0.2331 0.47579 -0.23079 C 0.48568 -0.23195 0.49558 -0.23195 0.50534 -0.23426 C 0.54245 -0.24329 0.51758 -0.24306 0.52813 -0.24306 L 0.52813 -0.24306 C 0.52774 -0.25301 0.52774 -0.26297 0.52709 -0.27292 C 0.52683 -0.27662 0.52566 -0.27986 0.52513 -0.28334 C 0.52409 -0.29074 0.52409 -0.29098 0.52409 -0.2956 L 0.52409 -0.2956 C 0.50092 -0.28912 0.46993 -0.2794 0.4461 -0.27477 C 0.43763 -0.27292 0.42904 -0.27223 0.42045 -0.27107 C 0.40417 -0.26158 0.41758 -0.26875 0.37513 -0.27292 C 0.37149 -0.27315 0.36784 -0.27408 0.3642 -0.27477 C 0.33698 -0.28473 0.34844 -0.28611 0.32969 -0.27986 C 0.32019 -0.27199 0.31576 -0.2676 0.30599 -0.26227 C 0.30118 -0.25973 0.29115 -0.25533 0.29115 -0.25533 C 0.28633 -0.25648 0.28112 -0.25648 0.27644 -0.2588 C 0.27526 -0.25949 0.27552 -0.2632 0.27448 -0.26412 C 0.27136 -0.2669 0.26784 -0.2676 0.26459 -0.26945 C 0.23972 -0.26598 0.25925 -0.26621 0.24779 -0.26945 C 0.23802 -0.27199 0.23685 -0.27477 0.23985 -0.26945 L 0.23985 -0.26945 C 0.23646 -0.23218 0.23776 -0.25556 0.23894 -0.19931 L 0.23894 -0.19931 C 0.24454 -0.19815 0.25013 -0.19769 0.25573 -0.1956 C 0.25977 -0.19422 0.26758 -0.18866 0.26758 -0.18866 C 0.27058 -0.1831 0.2724 -0.17963 0.27735 -0.17639 C 0.28021 -0.17454 0.28334 -0.175 0.28633 -0.17454 C 0.29115 -0.17385 0.2961 -0.17361 0.30105 -0.17292 C 0.30469 -0.17246 0.30834 -0.17176 0.31198 -0.17107 C 0.32422 -0.16019 0.30704 -0.17593 0.3198 -0.16227 C 0.32175 -0.16042 0.32383 -0.15903 0.32579 -0.15718 C 0.32891 -0.15394 0.33373 -0.14954 0.33659 -0.14491 C 0.33763 -0.14306 0.34454 -0.12871 0.34844 -0.12547 C 0.35105 -0.12338 0.35378 -0.12199 0.35638 -0.12014 C 0.36589 -0.11343 0.36797 -0.11088 0.37709 -0.10625 C 0.38295 -0.10324 0.38112 -0.10764 0.38295 -0.10093 L 0.38295 -0.10093 C 0.38073 -0.09167 0.37787 -0.08264 0.37605 -0.07292 C 0.37513 -0.06783 0.37539 -0.06227 0.37513 -0.05718 C 0.37474 -0.04954 0.37448 -0.0419 0.37409 -0.03426 C 0.37448 -0.02963 0.37435 -0.02477 0.37513 -0.02014 C 0.37566 -0.0169 0.37722 -0.01459 0.378 -0.01135 C 0.37852 -0.00973 0.37865 -0.00787 0.37904 -0.00625 C 0.37956 -0.00371 0.38034 -0.00139 0.38099 0.00092 L 0.38008 0.02199 L 0.38008 0.02199 C 0.36133 0.02662 0.34232 0.0294 0.32383 0.03588 C 0.31862 0.03773 0.3142 0.04467 0.30899 0.04652 C 0.29662 0.05069 0.28399 0.05115 0.27149 0.05347 C 0.26524 0.05648 0.25873 0.05787 0.25274 0.06227 C 0.21732 0.08773 0.24206 0.08102 0.2211 0.08518 C 0.20769 0.08148 0.19427 0.07662 0.18073 0.07453 C 0.16316 0.07199 0.16055 0.07847 0.14414 0.08148 C 0.13763 0.08287 0.13099 0.08264 0.12448 0.08333 C 0.11954 0.08264 0.11446 0.08333 0.10964 0.08148 C 0.10417 0.07963 0.09922 0.075 0.09388 0.07268 C 0.08933 0.07083 0.08464 0.07037 0.07995 0.06921 C 0.06459 0.0699 0.04909 0.07222 0.0336 0.07106 C 0.02787 0.0706 0.02253 0.06597 0.0168 0.06412 C 0.01224 0.0625 0.003 0.06041 0.003 0.06041 C 0.0017 0.05764 0.00013 0.05509 -0.00091 0.05162 C -0.00156 0.04953 -0.00156 0.04699 -0.00195 0.04467 C -0.00286 0.03935 -0.0039 0.03426 -0.00481 0.02893 C -0.00651 0.01157 -0.00703 0.02407 -0.00286 0.01319 C 0.0017 0.00092 0.00039 0.00277 0.00105 0.00092 Z " pathEditMode="relative" ptsTypes="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2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0.00555 L 0.00195 0.00555 C 0.00963 0.01018 0.01705 0.0155 0.02474 0.01967 C 0.03216 0.02361 0.03984 0.02685 0.04739 0.03009 C 0.05429 0.0331 0.06484 0.0368 0.07213 0.03888 C 0.07434 0.03958 0.07669 0.04004 0.07903 0.04074 C 0.08033 0.04189 0.0819 0.04236 0.08294 0.04421 C 0.09192 0.05879 0.08711 0.0581 0.09778 0.06875 C 0.10013 0.07129 0.10299 0.07245 0.10559 0.07407 C 0.11263 0.07824 0.11132 0.07685 0.11744 0.07916 C 0.11875 0.07986 0.12005 0.08078 0.12135 0.08101 C 0.12565 0.08194 0.12994 0.08217 0.13424 0.08287 C 0.1358 0.07708 0.13958 0.06388 0.1401 0.05995 C 0.14296 0.03888 0.14257 -0.00996 0.14505 -0.02431 C 0.14674 -0.03334 0.15208 -0.03866 0.15599 -0.04537 C 0.16132 -0.0544 0.16484 -0.05764 0.17174 -0.06112 C 0.17369 -0.06204 0.17565 -0.06227 0.1776 -0.06274 C 0.1832 -0.06227 0.1888 -0.06204 0.1944 -0.06112 C 0.19908 -0.06019 0.20364 -0.05857 0.2082 -0.05764 C 0.21184 -0.05672 0.21549 -0.05649 0.21914 -0.05579 C 0.23216 -0.04607 0.22682 -0.04885 0.23489 -0.04537 C 0.23554 -0.04352 0.23658 -0.04213 0.23684 -0.04005 C 0.23763 -0.03496 0.23763 -0.02963 0.23789 -0.02431 C 0.23828 -0.01598 0.23776 -0.00764 0.2388 0.00023 C 0.23945 0.00439 0.24153 0.0074 0.24283 0.01088 C 0.24309 0.01504 0.24322 0.01921 0.24375 0.02314 C 0.24427 0.02685 0.24557 0.02986 0.2457 0.03356 C 0.24596 0.03842 0.24505 0.04305 0.24479 0.04768 C 0.24505 0.05416 0.24635 0.06064 0.2457 0.06689 C 0.24544 0.07013 0.24231 0.06018 0.24375 0.05833 C 0.24648 0.05463 0.25039 0.05694 0.25364 0.05648 L 0.26354 0.0618 C 0.26549 0.06273 0.26744 0.06458 0.2694 0.06527 C 0.2733 0.06643 0.27734 0.06643 0.28125 0.06689 C 0.28489 0.06643 0.28854 0.06643 0.29218 0.06527 C 0.29752 0.06342 0.30794 0.05833 0.30794 0.05833 C 0.34934 0.06319 0.33346 0.0618 0.41054 0.0618 C 0.43489 0.0618 0.45924 0.06064 0.48359 0.05995 C 0.48906 0.05787 0.50039 0.053 0.50533 0.053 C 0.51744 0.053 0.52968 0.05532 0.54179 0.05648 C 0.54296 0.0574 0.54947 0.06064 0.54974 0.06527 C 0.55052 0.08263 0.55065 0.09351 0.54778 0.1074 C 0.54713 0.11041 0.54661 0.11342 0.5457 0.1162 C 0.54492 0.11875 0.54362 0.1206 0.54283 0.12314 C 0.54205 0.12546 0.54179 0.12824 0.54075 0.13009 C 0.53815 0.13495 0.53333 0.13703 0.52994 0.13888 C 0.52539 0.13842 0.5207 0.13819 0.51614 0.13726 C 0.5151 0.13703 0.51419 0.13588 0.51315 0.13541 C 0.51184 0.13472 0.51054 0.13425 0.50924 0.13356 C 0.50195 0.13425 0.49466 0.13379 0.4875 0.13541 C 0.46367 0.14097 0.48007 0.14328 0.46184 0.14421 C 0.44309 0.14513 0.42434 0.14537 0.40559 0.14606 L 0.39179 0.14421 C 0.38554 0.14351 0.37929 0.14375 0.37304 0.14236 C 0.36601 0.14097 0.35924 0.13773 0.35234 0.13541 C 0.32031 0.1375 0.33164 0.13588 0.30299 0.14074 C 0.29635 0.14189 0.28984 0.14259 0.2832 0.14421 C 0.27109 0.14722 0.25885 0.15115 0.24674 0.15463 C 0.24609 0.15833 0.24479 0.16157 0.24479 0.16527 C 0.24479 0.1875 0.24479 0.18495 0.24974 0.19675 C 0.25026 0.20185 0.25169 0.21365 0.25169 0.21782 C 0.25169 0.22662 0.25143 0.23541 0.25065 0.24421 C 0.25039 0.24768 0.24752 0.25995 0.24674 0.26342 C 0.24635 0.26875 0.24622 0.27407 0.2457 0.27939 C 0.24557 0.28125 0.24518 0.28287 0.24479 0.28449 C 0.24414 0.28703 0.24205 0.29467 0.24088 0.29675 C 0.23789 0.30208 0.2358 0.303 0.2319 0.30555 C 0.23099 0.30625 0.22994 0.30694 0.22903 0.3074 C 0.22708 0.3081 0.225 0.30856 0.22304 0.30925 C 0.21549 0.3074 0.20794 0.30509 0.20039 0.30393 C 0.18932 0.30208 0.18229 0.30694 0.17369 0.29861 C 0.17096 0.29606 0.16849 0.29282 0.16588 0.28981 C 0.16523 0.28819 0.16041 0.275 0.15885 0.27222 C 0.15807 0.27083 0.1569 0.2699 0.15599 0.26875 C 0.15494 0.25949 0.1539 0.25 0.15299 0.24074 C 0.1526 0.23726 0.15234 0.23379 0.15195 0.23009 C 0.15169 0.22615 0.15143 0.22199 0.15104 0.21782 C 0.15078 0.2155 0.15039 0.21319 0.15 0.21088 C 0.14961 0.20787 0.14987 0.20463 0.14908 0.20208 C 0.14843 0.20023 0.14687 0.2 0.14609 0.19861 C 0.14492 0.19652 0.14401 0.19398 0.14309 0.19166 C 0.14036 0.18356 0.13841 0.17453 0.13528 0.16713 C 0.13424 0.16458 0.13346 0.16203 0.13229 0.15995 C 0.12786 0.153 0.12343 0.14606 0.11849 0.14074 C 0.11679 0.13888 0.11445 0.13958 0.1125 0.13888 C 0.1039 0.13287 0.11093 0.1368 0.09869 0.13356 C 0.09049 0.13148 0.08229 0.12893 0.07408 0.12662 C 0.07005 0.12314 0.06601 0.1199 0.06224 0.1162 C 0.05716 0.11111 0.05299 0.10231 0.04739 0.10023 C 0.04049 0.09791 0.03997 0.09814 0.03164 0.09166 C 0.02916 0.08958 0.02695 0.08703 0.02474 0.08449 C 0.02148 0.08125 0.01562 0.07291 0.0138 0.0706 C 0.0125 0.06643 0.01132 0.06203 0.00989 0.05833 C 0.00937 0.05694 0.00859 0.05601 0.00794 0.05463 C 0.00013 0.03888 0.00559 0.04884 0.00104 0.04074 C 4.375E-6 0.01134 0.00182 0.01134 0.00195 0.00555 Z " pathEditMode="relative" ptsTypes="AAAAAAAAAAAAAAAAAAAAAAAAAAAAAAAAAAAAAAAAAAAAAAAAAAAAAAAAAAAAAAAAAAAAAAAAAAAAAAAAAAAAAAAAAAAAAAAA">
                                      <p:cBhvr>
                                        <p:cTn id="8" dur="5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ACFB0FB-3985-BDE2-ECBF-93F26BD22CF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5975354">
            <a:off x="7588561" y="870650"/>
            <a:ext cx="5218727" cy="370845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AC06E-7044-8EDE-52C7-7DFE6F4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 priciples (6 from 6)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DCCEF-6A36-3483-CB51-5AEC7010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fontAlgn="base" latinLnBrk="0">
              <a:buFont typeface="Arial" panose="020B0604020202020204" pitchFamily="34" charset="0"/>
              <a:buChar char="•"/>
            </a:pPr>
            <a:r>
              <a:rPr lang="de-DE" b="1" i="0" u="none" strike="noStrike">
                <a:solidFill>
                  <a:srgbClr val="000000"/>
                </a:solidFill>
                <a:effectLst/>
                <a:latin typeface="var(--stk-f_family)"/>
              </a:rPr>
              <a:t>Optional</a:t>
            </a:r>
            <a:r>
              <a:rPr lang="de-DE" b="0" i="0" u="none" strike="noStrike">
                <a:solidFill>
                  <a:srgbClr val="000000"/>
                </a:solidFill>
                <a:effectLst/>
                <a:latin typeface="var(--stk-f_family)"/>
              </a:rPr>
              <a:t> 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var(--stk-f_family)"/>
              </a:rPr>
              <a:t>code-on-demand</a:t>
            </a:r>
            <a:endParaRPr lang="de-DE">
              <a:solidFill>
                <a:srgbClr val="000000"/>
              </a:solidFill>
              <a:latin typeface="var(--stk-f_family)"/>
            </a:endParaRPr>
          </a:p>
          <a:p>
            <a:pPr algn="l" fontAlgn="base" latinLnBrk="0">
              <a:buFont typeface="Arial" panose="020B0604020202020204" pitchFamily="34" charset="0"/>
              <a:buChar char="•"/>
            </a:pPr>
            <a:endParaRPr lang="de-DE" b="0" i="0" u="none" strike="noStrike">
              <a:solidFill>
                <a:srgbClr val="000000"/>
              </a:solidFill>
              <a:effectLst/>
              <a:latin typeface="var(--stk-f_family)"/>
            </a:endParaRPr>
          </a:p>
          <a:p>
            <a:pPr marL="0" indent="0">
              <a:buNone/>
            </a:pPr>
            <a:r>
              <a:rPr lang="ru-RU"/>
              <a:t>7.1, RFC 4329. </a:t>
            </a:r>
            <a:r>
              <a:rPr lang="en-US">
                <a:solidFill>
                  <a:srgbClr val="AA0D91"/>
                </a:solidFill>
                <a:latin typeface="source-code-pro"/>
              </a:rPr>
              <a:t>obsolete</a:t>
            </a:r>
          </a:p>
          <a:p>
            <a:pPr marL="0" indent="0">
              <a:buNone/>
            </a:pPr>
            <a:r>
              <a:rPr lang="en-US">
                <a:highlight>
                  <a:srgbClr val="C0C0C0"/>
                </a:highlight>
              </a:rPr>
              <a:t>GET /product/id HTTP/1.1</a:t>
            </a:r>
          </a:p>
          <a:p>
            <a:pPr marL="0" indent="0">
              <a:buNone/>
            </a:pPr>
            <a:r>
              <a:rPr lang="en-US">
                <a:highlight>
                  <a:srgbClr val="C0C0C0"/>
                </a:highlight>
              </a:rPr>
              <a:t>Content-Type: </a:t>
            </a:r>
            <a:r>
              <a:rPr lang="fr-FR">
                <a:highlight>
                  <a:srgbClr val="C0C0C0"/>
                </a:highlight>
              </a:rPr>
              <a:t>content-type: text/javascript; charset=utf-8</a:t>
            </a:r>
            <a:endParaRPr lang="ru-RU">
              <a:highlight>
                <a:srgbClr val="C0C0C0"/>
              </a:highlight>
            </a:endParaRPr>
          </a:p>
          <a:p>
            <a:endParaRPr lang="ru-RU"/>
          </a:p>
          <a:p>
            <a:pPr marL="0" indent="0">
              <a:buNone/>
            </a:pPr>
            <a:r>
              <a:rPr lang="ru-RU"/>
              <a:t>7.2, RFC 4329</a:t>
            </a:r>
          </a:p>
          <a:p>
            <a:pPr marL="0" indent="0">
              <a:buNone/>
            </a:pPr>
            <a:r>
              <a:rPr lang="en-US">
                <a:highlight>
                  <a:srgbClr val="C0C0C0"/>
                </a:highlight>
              </a:rPr>
              <a:t>GET /product/id HTTP/1.1</a:t>
            </a:r>
          </a:p>
          <a:p>
            <a:pPr marL="0" indent="0">
              <a:buNone/>
            </a:pPr>
            <a:r>
              <a:rPr lang="en-US">
                <a:highlight>
                  <a:srgbClr val="C0C0C0"/>
                </a:highlight>
              </a:rPr>
              <a:t>Content-Type: </a:t>
            </a:r>
            <a:r>
              <a:rPr lang="fr-FR">
                <a:highlight>
                  <a:srgbClr val="C0C0C0"/>
                </a:highlight>
              </a:rPr>
              <a:t>content-type: </a:t>
            </a:r>
            <a:r>
              <a:rPr lang="de-DE">
                <a:highlight>
                  <a:srgbClr val="C0C0C0"/>
                </a:highlight>
              </a:rPr>
              <a:t>application</a:t>
            </a:r>
            <a:r>
              <a:rPr lang="fr-FR">
                <a:highlight>
                  <a:srgbClr val="C0C0C0"/>
                </a:highlight>
              </a:rPr>
              <a:t>/javascript; charset=utf-8</a:t>
            </a:r>
            <a:r>
              <a:rPr lang="ru-RU">
                <a:highlight>
                  <a:srgbClr val="C0C0C0"/>
                </a:highlight>
              </a:rPr>
              <a:t> </a:t>
            </a:r>
            <a:endParaRPr lang="en-US">
              <a:highlight>
                <a:srgbClr val="C0C0C0"/>
              </a:highlight>
            </a:endParaRPr>
          </a:p>
          <a:p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CD1164-D136-EEFD-4D61-E0A87ACC4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BBF5D-4058-4D99-9454-73F3753E3AB4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7917B1-D801-3329-220D-D55C78D80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5D8713-52DD-A92D-E4D3-CFB9D409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9899B717-511F-A9DA-74F7-40053443E1CF}"/>
                  </a:ext>
                </a:extLst>
              </p14:cNvPr>
              <p14:cNvContentPartPr/>
              <p14:nvPr/>
            </p14:nvContentPartPr>
            <p14:xfrm>
              <a:off x="5077080" y="5513852"/>
              <a:ext cx="3328200" cy="543392"/>
            </p14:xfrm>
          </p:contentPart>
        </mc:Choice>
        <mc:Fallback xmlns=""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9899B717-511F-A9DA-74F7-40053443E1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5440" y="5369812"/>
                <a:ext cx="3471840" cy="8311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0303A1D9-6A7C-0FEE-1298-F9D37041EFF4}"/>
                  </a:ext>
                </a:extLst>
              </p14:cNvPr>
              <p14:cNvContentPartPr/>
              <p14:nvPr/>
            </p14:nvContentPartPr>
            <p14:xfrm>
              <a:off x="943598" y="5029200"/>
              <a:ext cx="3882600" cy="543392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0303A1D9-6A7C-0FEE-1298-F9D37041EF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3958" y="4849629"/>
                <a:ext cx="4062240" cy="9028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39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AC06E-7044-8EDE-52C7-7DFE6F4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 priciples (&gt;6 from 6)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DCCEF-6A36-3483-CB51-5AEC7010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fontAlgn="base" latinLnBrk="0">
              <a:buNone/>
            </a:pPr>
            <a:endParaRPr lang="de-DE" b="0" i="0" u="none" strike="noStrike">
              <a:solidFill>
                <a:srgbClr val="000000"/>
              </a:solidFill>
              <a:effectLst/>
              <a:latin typeface="var(--stk-f_family)"/>
            </a:endParaRPr>
          </a:p>
          <a:p>
            <a:r>
              <a:rPr lang="en-US" b="0" i="0">
                <a:solidFill>
                  <a:srgbClr val="101418"/>
                </a:solidFill>
                <a:effectLst/>
                <a:latin typeface="Linux Libertine"/>
              </a:rPr>
              <a:t>Any other suggestions are just a extension of Roy Fielding's original idea</a:t>
            </a:r>
            <a:endParaRPr lang="ru-RU" b="0" i="0" u="none" strike="noStrike">
              <a:solidFill>
                <a:srgbClr val="000000"/>
              </a:solidFill>
              <a:effectLst/>
              <a:latin typeface="var(--stk-f_family)"/>
            </a:endParaRPr>
          </a:p>
          <a:p>
            <a:pPr algn="l" fontAlgn="base" latinLnBrk="0">
              <a:buFont typeface="Arial" panose="020B0604020202020204" pitchFamily="34" charset="0"/>
              <a:buChar char="•"/>
            </a:pPr>
            <a:endParaRPr lang="ru-RU">
              <a:solidFill>
                <a:srgbClr val="000000"/>
              </a:solidFill>
              <a:latin typeface="var(--stk-f_family)"/>
            </a:endParaRPr>
          </a:p>
          <a:p>
            <a:pPr marL="0" indent="0" algn="l" fontAlgn="base" latinLnBrk="0">
              <a:buNone/>
            </a:pPr>
            <a:endParaRPr lang="en-US">
              <a:solidFill>
                <a:srgbClr val="000000"/>
              </a:solidFill>
              <a:latin typeface="var(--stk-f_family)"/>
            </a:endParaRPr>
          </a:p>
          <a:p>
            <a:pPr marL="0" indent="0" algn="l" fontAlgn="base" latinLnBrk="0">
              <a:buNone/>
            </a:pPr>
            <a:r>
              <a:rPr lang="en-US">
                <a:solidFill>
                  <a:srgbClr val="000000"/>
                </a:solidFill>
                <a:latin typeface="var(--stk-f_family)"/>
              </a:rPr>
              <a:t>A good extension for REST documentation from AWS</a:t>
            </a:r>
          </a:p>
          <a:p>
            <a:pPr marL="0" indent="0" algn="l" fontAlgn="base" latinLnBrk="0">
              <a:buNone/>
            </a:pPr>
            <a:r>
              <a:rPr lang="en-US" b="0" i="0" u="none" strike="noStrike">
                <a:solidFill>
                  <a:srgbClr val="000000"/>
                </a:solidFill>
                <a:effectLst/>
                <a:latin typeface="var(--stk-f_family)"/>
              </a:rPr>
              <a:t>https://aws.amazon.com/what-is/restful-api/</a:t>
            </a:r>
            <a:endParaRPr lang="ru-RU" b="0" i="0" u="none" strike="noStrike">
              <a:solidFill>
                <a:srgbClr val="000000"/>
              </a:solidFill>
              <a:effectLst/>
              <a:latin typeface="var(--stk-f_family)"/>
            </a:endParaRPr>
          </a:p>
          <a:p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55A247-45F6-B30F-8076-071B490D14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6010" y="3441342"/>
            <a:ext cx="2870558" cy="2870558"/>
          </a:xfrm>
          <a:prstGeom prst="rect">
            <a:avLst/>
          </a:prstGeo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243CC0F0-DC63-F703-8443-90C9EDF8C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4B522-9CA4-4820-9073-068E4226F4E3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A4C652-3D46-D086-C99F-EEE7CE8B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33771C-8755-64CB-A130-F52E877E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13</a:t>
            </a:fld>
            <a:endParaRPr lang="en-US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DCF729-52AC-D11E-F0F2-49892525FE2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1295" y="5167312"/>
            <a:ext cx="125930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86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8604A8F-72FC-6ECF-6E7F-BF2C6C947FD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98" t="15022" r="23372" b="13158"/>
          <a:stretch/>
        </p:blipFill>
        <p:spPr>
          <a:xfrm>
            <a:off x="9154407" y="2212227"/>
            <a:ext cx="3037593" cy="4343283"/>
          </a:xfrm>
          <a:custGeom>
            <a:avLst/>
            <a:gdLst>
              <a:gd name="connsiteX0" fmla="*/ 696299 w 3444763"/>
              <a:gd name="connsiteY0" fmla="*/ 44 h 4925473"/>
              <a:gd name="connsiteX1" fmla="*/ 845942 w 3444763"/>
              <a:gd name="connsiteY1" fmla="*/ 76745 h 4925473"/>
              <a:gd name="connsiteX2" fmla="*/ 882037 w 3444763"/>
              <a:gd name="connsiteY2" fmla="*/ 714419 h 4925473"/>
              <a:gd name="connsiteX3" fmla="*/ 1255016 w 3444763"/>
              <a:gd name="connsiteY3" fmla="*/ 846766 h 4925473"/>
              <a:gd name="connsiteX4" fmla="*/ 1327206 w 3444763"/>
              <a:gd name="connsiteY4" fmla="*/ 172998 h 4925473"/>
              <a:gd name="connsiteX5" fmla="*/ 2061132 w 3444763"/>
              <a:gd name="connsiteY5" fmla="*/ 377535 h 4925473"/>
              <a:gd name="connsiteX6" fmla="*/ 3403298 w 3444763"/>
              <a:gd name="connsiteY6" fmla="*/ 1937447 h 4925473"/>
              <a:gd name="connsiteX7" fmla="*/ 3444763 w 3444763"/>
              <a:gd name="connsiteY7" fmla="*/ 1992460 h 4925473"/>
              <a:gd name="connsiteX8" fmla="*/ 3444763 w 3444763"/>
              <a:gd name="connsiteY8" fmla="*/ 2932204 h 4925473"/>
              <a:gd name="connsiteX9" fmla="*/ 3392032 w 3444763"/>
              <a:gd name="connsiteY9" fmla="*/ 2917114 h 4925473"/>
              <a:gd name="connsiteX10" fmla="*/ 3288353 w 3444763"/>
              <a:gd name="connsiteY10" fmla="*/ 2856040 h 4925473"/>
              <a:gd name="connsiteX11" fmla="*/ 2301763 w 3444763"/>
              <a:gd name="connsiteY11" fmla="*/ 1340061 h 4925473"/>
              <a:gd name="connsiteX12" fmla="*/ 2097227 w 3444763"/>
              <a:gd name="connsiteY12" fmla="*/ 1111461 h 4925473"/>
              <a:gd name="connsiteX13" fmla="*/ 1964879 w 3444763"/>
              <a:gd name="connsiteY13" fmla="*/ 1291935 h 4925473"/>
              <a:gd name="connsiteX14" fmla="*/ 2073163 w 3444763"/>
              <a:gd name="connsiteY14" fmla="*/ 1592724 h 4925473"/>
              <a:gd name="connsiteX15" fmla="*/ 2470206 w 3444763"/>
              <a:gd name="connsiteY15" fmla="*/ 2627440 h 4925473"/>
              <a:gd name="connsiteX16" fmla="*/ 2770995 w 3444763"/>
              <a:gd name="connsiteY16" fmla="*/ 4805156 h 4925473"/>
              <a:gd name="connsiteX17" fmla="*/ 2763906 w 3444763"/>
              <a:gd name="connsiteY17" fmla="*/ 4880399 h 4925473"/>
              <a:gd name="connsiteX18" fmla="*/ 2755211 w 3444763"/>
              <a:gd name="connsiteY18" fmla="*/ 4925473 h 4925473"/>
              <a:gd name="connsiteX19" fmla="*/ 2142395 w 3444763"/>
              <a:gd name="connsiteY19" fmla="*/ 4925473 h 4925473"/>
              <a:gd name="connsiteX20" fmla="*/ 2104088 w 3444763"/>
              <a:gd name="connsiteY20" fmla="*/ 4860426 h 4925473"/>
              <a:gd name="connsiteX21" fmla="*/ 2000974 w 3444763"/>
              <a:gd name="connsiteY21" fmla="*/ 4769061 h 4925473"/>
              <a:gd name="connsiteX22" fmla="*/ 1363300 w 3444763"/>
              <a:gd name="connsiteY22" fmla="*/ 4853282 h 4925473"/>
              <a:gd name="connsiteX23" fmla="*/ 1251914 w 3444763"/>
              <a:gd name="connsiteY23" fmla="*/ 4923216 h 4925473"/>
              <a:gd name="connsiteX24" fmla="*/ 1249765 w 3444763"/>
              <a:gd name="connsiteY24" fmla="*/ 4925473 h 4925473"/>
              <a:gd name="connsiteX25" fmla="*/ 746005 w 3444763"/>
              <a:gd name="connsiteY25" fmla="*/ 4925473 h 4925473"/>
              <a:gd name="connsiteX26" fmla="*/ 731643 w 3444763"/>
              <a:gd name="connsiteY26" fmla="*/ 4876687 h 4925473"/>
              <a:gd name="connsiteX27" fmla="*/ 713595 w 3444763"/>
              <a:gd name="connsiteY27" fmla="*/ 4564524 h 4925473"/>
              <a:gd name="connsiteX28" fmla="*/ 1170795 w 3444763"/>
              <a:gd name="connsiteY28" fmla="*/ 1773198 h 4925473"/>
              <a:gd name="connsiteX29" fmla="*/ 906100 w 3444763"/>
              <a:gd name="connsiteY29" fmla="*/ 1520535 h 4925473"/>
              <a:gd name="connsiteX30" fmla="*/ 1158763 w 3444763"/>
              <a:gd name="connsiteY30" fmla="*/ 1303966 h 4925473"/>
              <a:gd name="connsiteX31" fmla="*/ 713595 w 3444763"/>
              <a:gd name="connsiteY31" fmla="*/ 810672 h 4925473"/>
              <a:gd name="connsiteX32" fmla="*/ 328585 w 3444763"/>
              <a:gd name="connsiteY32" fmla="*/ 810672 h 4925473"/>
              <a:gd name="connsiteX33" fmla="*/ 3732 w 3444763"/>
              <a:gd name="connsiteY33" fmla="*/ 389566 h 4925473"/>
              <a:gd name="connsiteX34" fmla="*/ 172174 w 3444763"/>
              <a:gd name="connsiteY34" fmla="*/ 233156 h 4925473"/>
              <a:gd name="connsiteX35" fmla="*/ 509058 w 3444763"/>
              <a:gd name="connsiteY35" fmla="*/ 28619 h 4925473"/>
              <a:gd name="connsiteX36" fmla="*/ 696299 w 3444763"/>
              <a:gd name="connsiteY36" fmla="*/ 44 h 492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44763" h="4925473">
                <a:moveTo>
                  <a:pt x="696299" y="44"/>
                </a:moveTo>
                <a:cubicBezTo>
                  <a:pt x="758713" y="1047"/>
                  <a:pt x="814861" y="19595"/>
                  <a:pt x="845942" y="76745"/>
                </a:cubicBezTo>
                <a:cubicBezTo>
                  <a:pt x="908105" y="191045"/>
                  <a:pt x="813858" y="586082"/>
                  <a:pt x="882037" y="714419"/>
                </a:cubicBezTo>
                <a:cubicBezTo>
                  <a:pt x="950216" y="842756"/>
                  <a:pt x="1180821" y="937003"/>
                  <a:pt x="1255016" y="846766"/>
                </a:cubicBezTo>
                <a:cubicBezTo>
                  <a:pt x="1329211" y="756529"/>
                  <a:pt x="1192853" y="251203"/>
                  <a:pt x="1327206" y="172998"/>
                </a:cubicBezTo>
                <a:cubicBezTo>
                  <a:pt x="1461559" y="94793"/>
                  <a:pt x="1646043" y="-17502"/>
                  <a:pt x="2061132" y="377535"/>
                </a:cubicBezTo>
                <a:cubicBezTo>
                  <a:pt x="2346506" y="649123"/>
                  <a:pt x="2973088" y="1375655"/>
                  <a:pt x="3403298" y="1937447"/>
                </a:cubicBezTo>
                <a:lnTo>
                  <a:pt x="3444763" y="1992460"/>
                </a:lnTo>
                <a:lnTo>
                  <a:pt x="3444763" y="2932204"/>
                </a:lnTo>
                <a:lnTo>
                  <a:pt x="3392032" y="2917114"/>
                </a:lnTo>
                <a:cubicBezTo>
                  <a:pt x="3355091" y="2901472"/>
                  <a:pt x="3319936" y="2881106"/>
                  <a:pt x="3288353" y="2856040"/>
                </a:cubicBezTo>
                <a:cubicBezTo>
                  <a:pt x="3035690" y="2655514"/>
                  <a:pt x="2500284" y="1630824"/>
                  <a:pt x="2301763" y="1340061"/>
                </a:cubicBezTo>
                <a:cubicBezTo>
                  <a:pt x="2103242" y="1049298"/>
                  <a:pt x="2153374" y="1119482"/>
                  <a:pt x="2097227" y="1111461"/>
                </a:cubicBezTo>
                <a:cubicBezTo>
                  <a:pt x="2041080" y="1103440"/>
                  <a:pt x="1968890" y="1211724"/>
                  <a:pt x="1964879" y="1291935"/>
                </a:cubicBezTo>
                <a:cubicBezTo>
                  <a:pt x="1960868" y="1372146"/>
                  <a:pt x="1988942" y="1370140"/>
                  <a:pt x="2073163" y="1592724"/>
                </a:cubicBezTo>
                <a:cubicBezTo>
                  <a:pt x="2157384" y="1815308"/>
                  <a:pt x="2353901" y="2092035"/>
                  <a:pt x="2470206" y="2627440"/>
                </a:cubicBezTo>
                <a:cubicBezTo>
                  <a:pt x="2586511" y="3162845"/>
                  <a:pt x="2793053" y="4376030"/>
                  <a:pt x="2770995" y="4805156"/>
                </a:cubicBezTo>
                <a:cubicBezTo>
                  <a:pt x="2769617" y="4831977"/>
                  <a:pt x="2767220" y="4857019"/>
                  <a:pt x="2763906" y="4880399"/>
                </a:cubicBezTo>
                <a:lnTo>
                  <a:pt x="2755211" y="4925473"/>
                </a:lnTo>
                <a:lnTo>
                  <a:pt x="2142395" y="4925473"/>
                </a:lnTo>
                <a:lnTo>
                  <a:pt x="2104088" y="4860426"/>
                </a:lnTo>
                <a:cubicBezTo>
                  <a:pt x="2074918" y="4817564"/>
                  <a:pt x="2041581" y="4783600"/>
                  <a:pt x="2000974" y="4769061"/>
                </a:cubicBezTo>
                <a:cubicBezTo>
                  <a:pt x="1838548" y="4710908"/>
                  <a:pt x="1529737" y="4797135"/>
                  <a:pt x="1363300" y="4853282"/>
                </a:cubicBezTo>
                <a:cubicBezTo>
                  <a:pt x="1321691" y="4867319"/>
                  <a:pt x="1285095" y="4893137"/>
                  <a:pt x="1251914" y="4923216"/>
                </a:cubicBezTo>
                <a:lnTo>
                  <a:pt x="1249765" y="4925473"/>
                </a:lnTo>
                <a:lnTo>
                  <a:pt x="746005" y="4925473"/>
                </a:lnTo>
                <a:lnTo>
                  <a:pt x="731643" y="4876687"/>
                </a:lnTo>
                <a:cubicBezTo>
                  <a:pt x="714347" y="4803652"/>
                  <a:pt x="706577" y="4703389"/>
                  <a:pt x="713595" y="4564524"/>
                </a:cubicBezTo>
                <a:cubicBezTo>
                  <a:pt x="741669" y="4009066"/>
                  <a:pt x="1138711" y="2280529"/>
                  <a:pt x="1170795" y="1773198"/>
                </a:cubicBezTo>
                <a:cubicBezTo>
                  <a:pt x="1202879" y="1265867"/>
                  <a:pt x="908105" y="1598740"/>
                  <a:pt x="906100" y="1520535"/>
                </a:cubicBezTo>
                <a:cubicBezTo>
                  <a:pt x="904095" y="1442330"/>
                  <a:pt x="1190847" y="1422277"/>
                  <a:pt x="1158763" y="1303966"/>
                </a:cubicBezTo>
                <a:cubicBezTo>
                  <a:pt x="1126679" y="1185656"/>
                  <a:pt x="851958" y="892888"/>
                  <a:pt x="713595" y="810672"/>
                </a:cubicBezTo>
                <a:cubicBezTo>
                  <a:pt x="575232" y="728456"/>
                  <a:pt x="446896" y="880856"/>
                  <a:pt x="328585" y="810672"/>
                </a:cubicBezTo>
                <a:cubicBezTo>
                  <a:pt x="210275" y="740488"/>
                  <a:pt x="29800" y="485819"/>
                  <a:pt x="3732" y="389566"/>
                </a:cubicBezTo>
                <a:cubicBezTo>
                  <a:pt x="-22336" y="293313"/>
                  <a:pt x="93969" y="297324"/>
                  <a:pt x="172174" y="233156"/>
                </a:cubicBezTo>
                <a:cubicBezTo>
                  <a:pt x="250379" y="168988"/>
                  <a:pt x="396764" y="54687"/>
                  <a:pt x="509058" y="28619"/>
                </a:cubicBezTo>
                <a:cubicBezTo>
                  <a:pt x="565205" y="15585"/>
                  <a:pt x="633886" y="-958"/>
                  <a:pt x="696299" y="44"/>
                </a:cubicBezTo>
                <a:close/>
              </a:path>
            </a:pathLst>
          </a:cu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1A06A-6AC5-78C2-1511-5F7F07EB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RESTfull api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43570B-A792-0796-5E5F-83097EC38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333333"/>
                </a:solidFill>
                <a:latin typeface="AmazonEmber"/>
              </a:rPr>
              <a:t>APIs following the REST architectural style are called </a:t>
            </a:r>
            <a:r>
              <a:rPr lang="en-US">
                <a:solidFill>
                  <a:srgbClr val="333333"/>
                </a:solidFill>
                <a:highlight>
                  <a:srgbClr val="00FFFF"/>
                </a:highlight>
                <a:latin typeface="AmazonEmber"/>
              </a:rPr>
              <a:t>REST APIs</a:t>
            </a:r>
            <a:endParaRPr lang="ru-RU">
              <a:solidFill>
                <a:srgbClr val="333333"/>
              </a:solidFill>
              <a:highlight>
                <a:srgbClr val="00FFFF"/>
              </a:highlight>
              <a:latin typeface="AmazonEmber"/>
            </a:endParaRPr>
          </a:p>
          <a:p>
            <a:endParaRPr lang="ru-RU">
              <a:solidFill>
                <a:srgbClr val="333333"/>
              </a:solidFill>
              <a:latin typeface="AmazonEmber"/>
            </a:endParaRPr>
          </a:p>
          <a:p>
            <a:r>
              <a:rPr lang="en-US">
                <a:solidFill>
                  <a:srgbClr val="333333"/>
                </a:solidFill>
                <a:latin typeface="AmazonEmber"/>
              </a:rPr>
              <a:t>Web services containing REST APIs are </a:t>
            </a:r>
            <a:r>
              <a:rPr lang="en-US">
                <a:solidFill>
                  <a:srgbClr val="333333"/>
                </a:solidFill>
                <a:highlight>
                  <a:srgbClr val="00FFFF"/>
                </a:highlight>
                <a:latin typeface="AmazonEmber"/>
              </a:rPr>
              <a:t>RESTful web services</a:t>
            </a:r>
            <a:r>
              <a:rPr lang="en-US">
                <a:solidFill>
                  <a:srgbClr val="333333"/>
                </a:solidFill>
                <a:latin typeface="AmazonEmber"/>
              </a:rPr>
              <a:t>.</a:t>
            </a:r>
            <a:endParaRPr lang="ru-RU">
              <a:solidFill>
                <a:srgbClr val="333333"/>
              </a:solidFill>
              <a:latin typeface="AmazonEmber"/>
            </a:endParaRPr>
          </a:p>
          <a:p>
            <a:endParaRPr lang="ru-RU">
              <a:solidFill>
                <a:srgbClr val="333333"/>
              </a:solidFill>
              <a:latin typeface="AmazonEmber"/>
            </a:endParaRPr>
          </a:p>
          <a:p>
            <a:r>
              <a:rPr lang="en-US">
                <a:solidFill>
                  <a:srgbClr val="333333"/>
                </a:solidFill>
                <a:latin typeface="AmazonEmber"/>
              </a:rPr>
              <a:t>Under </a:t>
            </a:r>
            <a:r>
              <a:rPr lang="en-US">
                <a:solidFill>
                  <a:srgbClr val="333333"/>
                </a:solidFill>
                <a:highlight>
                  <a:srgbClr val="00FFFF"/>
                </a:highlight>
                <a:latin typeface="AmazonEmber"/>
              </a:rPr>
              <a:t>RESTful APIs</a:t>
            </a:r>
            <a:r>
              <a:rPr lang="en-US">
                <a:solidFill>
                  <a:srgbClr val="333333"/>
                </a:solidFill>
                <a:latin typeface="AmazonEmber"/>
              </a:rPr>
              <a:t> are meant </a:t>
            </a:r>
            <a:r>
              <a:rPr lang="en-US">
                <a:solidFill>
                  <a:srgbClr val="333333"/>
                </a:solidFill>
                <a:highlight>
                  <a:srgbClr val="00FFFF"/>
                </a:highlight>
                <a:latin typeface="AmazonEmber"/>
              </a:rPr>
              <a:t>RESTful web services</a:t>
            </a:r>
            <a:r>
              <a:rPr lang="en-US">
                <a:solidFill>
                  <a:srgbClr val="333333"/>
                </a:solidFill>
                <a:latin typeface="AmazonEmber"/>
              </a:rPr>
              <a:t>.</a:t>
            </a:r>
            <a:endParaRPr lang="en-US" b="0" i="0">
              <a:solidFill>
                <a:srgbClr val="333333"/>
              </a:solidFill>
              <a:effectLst/>
              <a:latin typeface="AmazonEmber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CE1214-83C6-C027-FB12-BEB6342F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11C3-0004-46B3-A21D-EB538682D8E8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910DA8-6EA8-0FCE-9D1B-2C164380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464D0-8F37-0AA1-B5B4-8D2D2315E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8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9710F-4298-FC0B-82A5-D1CE9495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APIs in Django are not RESTfull…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07EBD6-78DA-F100-E7B6-EC533E6CC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Generally, </a:t>
            </a:r>
            <a:r>
              <a:rPr lang="de-DE"/>
              <a:t>statefil due </a:t>
            </a:r>
            <a:r>
              <a:rPr lang="en-US"/>
              <a:t>sessions</a:t>
            </a:r>
            <a:endParaRPr lang="ru-RU"/>
          </a:p>
          <a:p>
            <a:endParaRPr lang="de-DE"/>
          </a:p>
          <a:p>
            <a:r>
              <a:rPr lang="de-DE"/>
              <a:t>The </a:t>
            </a:r>
            <a:r>
              <a:rPr lang="en-US"/>
              <a:t>Routing for Request Methods not in a box</a:t>
            </a:r>
          </a:p>
          <a:p>
            <a:endParaRPr lang="en-US"/>
          </a:p>
          <a:p>
            <a:r>
              <a:rPr lang="en-US"/>
              <a:t>Handlers for TRACE, HEADS, PATCH request methods not in the box</a:t>
            </a:r>
          </a:p>
          <a:p>
            <a:endParaRPr lang="en-US"/>
          </a:p>
          <a:p>
            <a:r>
              <a:rPr lang="en-US"/>
              <a:t>API autodocumentation is not in the box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D017A1-4419-3D44-F832-16BEA3EB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6A63-5DA8-476D-BEF2-46E451CDEC05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CC3E55-7F42-567C-8255-44335CB9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B58A49-BADD-B974-A8F0-2ED2B4F9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94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B3530-03EB-BF03-8B95-168577A3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/>
              <a:t>APIs elements in Django:</a:t>
            </a:r>
            <a:endParaRPr lang="en-US" dirty="0"/>
          </a:p>
        </p:txBody>
      </p:sp>
      <p:sp>
        <p:nvSpPr>
          <p:cNvPr id="58" name="Объект 57">
            <a:extLst>
              <a:ext uri="{FF2B5EF4-FFF2-40B4-BE49-F238E27FC236}">
                <a16:creationId xmlns:a16="http://schemas.microsoft.com/office/drawing/2014/main" id="{DB9D6805-C73B-44A5-4677-C1FEE3A2E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BBCD0722-4572-7DA0-F423-0A8B9AEA235B}"/>
              </a:ext>
            </a:extLst>
          </p:cNvPr>
          <p:cNvGrpSpPr/>
          <p:nvPr/>
        </p:nvGrpSpPr>
        <p:grpSpPr>
          <a:xfrm>
            <a:off x="2268643" y="1630946"/>
            <a:ext cx="9384383" cy="4485964"/>
            <a:chOff x="1175823" y="1825625"/>
            <a:chExt cx="9384383" cy="4485964"/>
          </a:xfrm>
        </p:grpSpPr>
        <p:sp>
          <p:nvSpPr>
            <p:cNvPr id="32" name="Прямоугольник: скругленные углы 31">
              <a:extLst>
                <a:ext uri="{FF2B5EF4-FFF2-40B4-BE49-F238E27FC236}">
                  <a16:creationId xmlns:a16="http://schemas.microsoft.com/office/drawing/2014/main" id="{5178E071-C1CD-C5C9-3C38-DB7941F1DA14}"/>
                </a:ext>
              </a:extLst>
            </p:cNvPr>
            <p:cNvSpPr/>
            <p:nvPr/>
          </p:nvSpPr>
          <p:spPr>
            <a:xfrm>
              <a:off x="1175823" y="1825625"/>
              <a:ext cx="7783551" cy="447481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75F7FDFB-BA00-2577-2711-4ADDCD3BEC02}"/>
                </a:ext>
              </a:extLst>
            </p:cNvPr>
            <p:cNvSpPr/>
            <p:nvPr/>
          </p:nvSpPr>
          <p:spPr>
            <a:xfrm>
              <a:off x="1975234" y="1836776"/>
              <a:ext cx="8584972" cy="447481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>
                  <a:ln>
                    <a:solidFill>
                      <a:srgbClr val="002060"/>
                    </a:solidFill>
                  </a:ln>
                  <a:solidFill>
                    <a:srgbClr val="0C4B33"/>
                  </a:solidFill>
                  <a:latin typeface="DTLProkyonSTMedium" panose="02000000000000000000" pitchFamily="50" charset="0"/>
                </a:rPr>
                <a:t>Django</a:t>
              </a:r>
            </a:p>
          </p:txBody>
        </p:sp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84E15A96-6CC6-3FA1-5E4B-24245227C79D}"/>
                </a:ext>
              </a:extLst>
            </p:cNvPr>
            <p:cNvSpPr/>
            <p:nvPr/>
          </p:nvSpPr>
          <p:spPr>
            <a:xfrm>
              <a:off x="3758589" y="2341723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middleware</a:t>
              </a:r>
              <a:endParaRPr lang="ru-RU" dirty="0"/>
            </a:p>
          </p:txBody>
        </p:sp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2FCD36F0-2754-99CF-A3B3-4EAB9E7486E7}"/>
                </a:ext>
              </a:extLst>
            </p:cNvPr>
            <p:cNvSpPr/>
            <p:nvPr/>
          </p:nvSpPr>
          <p:spPr>
            <a:xfrm>
              <a:off x="5583227" y="2345612"/>
              <a:ext cx="1651871" cy="522140"/>
            </a:xfrm>
            <a:prstGeom prst="roundRect">
              <a:avLst/>
            </a:prstGeom>
            <a:solidFill>
              <a:srgbClr val="FFC7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2060"/>
                    </a:solidFill>
                  </a:ln>
                </a:rPr>
                <a:t>url</a:t>
              </a:r>
              <a:r>
                <a:rPr lang="de-DE" dirty="0">
                  <a:ln>
                    <a:solidFill>
                      <a:srgbClr val="002060"/>
                    </a:solidFill>
                  </a:ln>
                </a:rPr>
                <a:t>-dispatcher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5CBEAA9-60F9-49F9-1EAF-1D1B3BFEBEAE}"/>
                </a:ext>
              </a:extLst>
            </p:cNvPr>
            <p:cNvSpPr/>
            <p:nvPr/>
          </p:nvSpPr>
          <p:spPr>
            <a:xfrm>
              <a:off x="8492950" y="3129815"/>
              <a:ext cx="1651871" cy="520085"/>
            </a:xfrm>
            <a:prstGeom prst="roundRect">
              <a:avLst/>
            </a:prstGeom>
            <a:solidFill>
              <a:srgbClr val="FFA7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rgbClr val="002060"/>
                    </a:solidFill>
                  </a:ln>
                </a:rPr>
                <a:t>Validators</a:t>
              </a:r>
              <a:endParaRPr lang="de-DE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1BD7EAF3-07F0-CF7A-DE65-41B05AA2D991}"/>
                </a:ext>
              </a:extLst>
            </p:cNvPr>
            <p:cNvSpPr/>
            <p:nvPr/>
          </p:nvSpPr>
          <p:spPr>
            <a:xfrm>
              <a:off x="8492950" y="3910971"/>
              <a:ext cx="1651871" cy="522141"/>
            </a:xfrm>
            <a:prstGeom prst="roundRect">
              <a:avLst/>
            </a:prstGeom>
            <a:solidFill>
              <a:srgbClr val="FFA7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n>
                    <a:solidFill>
                      <a:srgbClr val="002060"/>
                    </a:solidFill>
                  </a:ln>
                </a:rPr>
                <a:t>Models ORM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D2E3A4AB-50D9-8880-2554-41D2CA24A49C}"/>
                </a:ext>
              </a:extLst>
            </p:cNvPr>
            <p:cNvSpPr/>
            <p:nvPr/>
          </p:nvSpPr>
          <p:spPr>
            <a:xfrm>
              <a:off x="8492950" y="4632761"/>
              <a:ext cx="1651871" cy="522141"/>
            </a:xfrm>
            <a:prstGeom prst="roundRect">
              <a:avLst/>
            </a:prstGeom>
            <a:solidFill>
              <a:srgbClr val="FFA7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rgbClr val="002060"/>
                    </a:solidFill>
                  </a:ln>
                </a:rPr>
                <a:t>Collect context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5E9DD535-0233-DAFC-0A85-FC9F8191E532}"/>
                </a:ext>
              </a:extLst>
            </p:cNvPr>
            <p:cNvSpPr/>
            <p:nvPr/>
          </p:nvSpPr>
          <p:spPr>
            <a:xfrm>
              <a:off x="7407865" y="5354551"/>
              <a:ext cx="1651871" cy="522142"/>
            </a:xfrm>
            <a:prstGeom prst="roundRect">
              <a:avLst/>
            </a:prstGeom>
            <a:solidFill>
              <a:srgbClr val="FFA7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rgbClr val="002060"/>
                    </a:solidFill>
                  </a:ln>
                </a:rPr>
                <a:t>serializers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F16C6F1F-9F95-E186-9FAA-216E1EEB06C4}"/>
                </a:ext>
              </a:extLst>
            </p:cNvPr>
            <p:cNvSpPr/>
            <p:nvPr/>
          </p:nvSpPr>
          <p:spPr>
            <a:xfrm>
              <a:off x="5583227" y="5354551"/>
              <a:ext cx="1651871" cy="522140"/>
            </a:xfrm>
            <a:prstGeom prst="roundRect">
              <a:avLst/>
            </a:prstGeom>
            <a:solidFill>
              <a:srgbClr val="EAB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err="1">
                  <a:ln>
                    <a:solidFill>
                      <a:srgbClr val="002060"/>
                    </a:solidFill>
                  </a:ln>
                </a:rPr>
                <a:t>render</a:t>
              </a:r>
              <a:r>
                <a:rPr lang="de-DE">
                  <a:ln>
                    <a:solidFill>
                      <a:srgbClr val="002060"/>
                    </a:solidFill>
                  </a:ln>
                </a:rPr>
                <a:t> to </a:t>
              </a:r>
              <a:r>
                <a:rPr lang="de-DE" dirty="0" err="1">
                  <a:ln>
                    <a:solidFill>
                      <a:srgbClr val="002060"/>
                    </a:solidFill>
                  </a:ln>
                </a:rPr>
                <a:t>response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701DADA1-0F67-9337-057D-72001F571F12}"/>
                </a:ext>
              </a:extLst>
            </p:cNvPr>
            <p:cNvSpPr/>
            <p:nvPr/>
          </p:nvSpPr>
          <p:spPr>
            <a:xfrm>
              <a:off x="3671181" y="2222727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middleware</a:t>
              </a:r>
              <a:endParaRPr lang="ru-RU" dirty="0"/>
            </a:p>
          </p:txBody>
        </p:sp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361DA5F8-C97B-D4DE-FAC2-A67559A41BD0}"/>
                </a:ext>
              </a:extLst>
            </p:cNvPr>
            <p:cNvSpPr/>
            <p:nvPr/>
          </p:nvSpPr>
          <p:spPr>
            <a:xfrm>
              <a:off x="3559190" y="2070265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70C0"/>
                    </a:solidFill>
                  </a:ln>
                </a:rPr>
                <a:t>middleware</a:t>
              </a:r>
              <a:endParaRPr lang="ru-RU" dirty="0">
                <a:ln>
                  <a:solidFill>
                    <a:srgbClr val="0070C0"/>
                  </a:solidFill>
                </a:ln>
              </a:endParaRPr>
            </a:p>
          </p:txBody>
        </p:sp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C6CC0558-CF91-A707-E084-F886AA208F4D}"/>
                </a:ext>
              </a:extLst>
            </p:cNvPr>
            <p:cNvSpPr/>
            <p:nvPr/>
          </p:nvSpPr>
          <p:spPr>
            <a:xfrm>
              <a:off x="7407865" y="2345612"/>
              <a:ext cx="1651871" cy="522140"/>
            </a:xfrm>
            <a:prstGeom prst="roundRect">
              <a:avLst/>
            </a:prstGeom>
            <a:solidFill>
              <a:srgbClr val="EAB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2060"/>
                    </a:solidFill>
                  </a:ln>
                </a:rPr>
                <a:t>view.as_view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A9504F5E-A614-108F-3B2E-73B6F9CC7C7D}"/>
                </a:ext>
              </a:extLst>
            </p:cNvPr>
            <p:cNvSpPr/>
            <p:nvPr/>
          </p:nvSpPr>
          <p:spPr>
            <a:xfrm>
              <a:off x="3758589" y="5354551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70C0"/>
                    </a:solidFill>
                  </a:ln>
                </a:rPr>
                <a:t>middleware</a:t>
              </a:r>
              <a:endParaRPr lang="ru-RU" dirty="0">
                <a:ln>
                  <a:solidFill>
                    <a:srgbClr val="0070C0"/>
                  </a:solidFill>
                </a:ln>
              </a:endParaRPr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A708534-5330-A091-4A17-0AB77542EEB5}"/>
                </a:ext>
              </a:extLst>
            </p:cNvPr>
            <p:cNvSpPr/>
            <p:nvPr/>
          </p:nvSpPr>
          <p:spPr>
            <a:xfrm>
              <a:off x="3671181" y="5235556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70C0"/>
                    </a:solidFill>
                  </a:ln>
                </a:rPr>
                <a:t>middleware</a:t>
              </a:r>
              <a:endParaRPr lang="ru-RU" dirty="0">
                <a:ln>
                  <a:solidFill>
                    <a:srgbClr val="0070C0"/>
                  </a:solidFill>
                </a:ln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1F1EDA2B-2EAA-6FB1-BA64-644F3217E5C9}"/>
                </a:ext>
              </a:extLst>
            </p:cNvPr>
            <p:cNvSpPr/>
            <p:nvPr/>
          </p:nvSpPr>
          <p:spPr>
            <a:xfrm>
              <a:off x="3559190" y="5083093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70C0"/>
                    </a:solidFill>
                  </a:ln>
                </a:rPr>
                <a:t>middleware</a:t>
              </a:r>
              <a:endParaRPr lang="ru-RU" dirty="0">
                <a:ln>
                  <a:solidFill>
                    <a:srgbClr val="0070C0"/>
                  </a:solidFill>
                </a:ln>
              </a:endParaRPr>
            </a:p>
          </p:txBody>
        </p:sp>
        <p:cxnSp>
          <p:nvCxnSpPr>
            <p:cNvPr id="21" name="Прямая со стрелкой 20">
              <a:extLst>
                <a:ext uri="{FF2B5EF4-FFF2-40B4-BE49-F238E27FC236}">
                  <a16:creationId xmlns:a16="http://schemas.microsoft.com/office/drawing/2014/main" id="{DA9ACC01-6448-CCEB-F96A-F61DECC3B9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6983" y="2341723"/>
              <a:ext cx="1102207" cy="11987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 стрелкой 22">
              <a:extLst>
                <a:ext uri="{FF2B5EF4-FFF2-40B4-BE49-F238E27FC236}">
                  <a16:creationId xmlns:a16="http://schemas.microsoft.com/office/drawing/2014/main" id="{B0847F76-DA50-23FC-EECB-DC055A56E962}"/>
                </a:ext>
              </a:extLst>
            </p:cNvPr>
            <p:cNvCxnSpPr>
              <a:cxnSpLocks/>
              <a:stCxn id="17" idx="1"/>
              <a:endCxn id="13" idx="1"/>
            </p:cNvCxnSpPr>
            <p:nvPr/>
          </p:nvCxnSpPr>
          <p:spPr>
            <a:xfrm flipH="1" flipV="1">
              <a:off x="1975234" y="4074183"/>
              <a:ext cx="1583956" cy="1269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>
              <a:extLst>
                <a:ext uri="{FF2B5EF4-FFF2-40B4-BE49-F238E27FC236}">
                  <a16:creationId xmlns:a16="http://schemas.microsoft.com/office/drawing/2014/main" id="{8F001E4C-B2D3-6370-38A8-AF783BDB1FBC}"/>
                </a:ext>
              </a:extLst>
            </p:cNvPr>
            <p:cNvCxnSpPr>
              <a:stCxn id="12" idx="3"/>
              <a:endCxn id="5" idx="1"/>
            </p:cNvCxnSpPr>
            <p:nvPr/>
          </p:nvCxnSpPr>
          <p:spPr>
            <a:xfrm>
              <a:off x="5410460" y="2602793"/>
              <a:ext cx="172767" cy="38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99500E29-0F9D-C553-70B4-E7586E003868}"/>
                </a:ext>
              </a:extLst>
            </p:cNvPr>
            <p:cNvCxnSpPr>
              <a:stCxn id="5" idx="3"/>
              <a:endCxn id="14" idx="1"/>
            </p:cNvCxnSpPr>
            <p:nvPr/>
          </p:nvCxnSpPr>
          <p:spPr>
            <a:xfrm>
              <a:off x="7235098" y="2606681"/>
              <a:ext cx="1727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Соединитель: уступ 29">
              <a:extLst>
                <a:ext uri="{FF2B5EF4-FFF2-40B4-BE49-F238E27FC236}">
                  <a16:creationId xmlns:a16="http://schemas.microsoft.com/office/drawing/2014/main" id="{82CA03D4-1FFE-8B46-4EEF-032D12B7FA18}"/>
                </a:ext>
              </a:extLst>
            </p:cNvPr>
            <p:cNvCxnSpPr>
              <a:cxnSpLocks/>
              <a:stCxn id="14" idx="3"/>
              <a:endCxn id="6" idx="0"/>
            </p:cNvCxnSpPr>
            <p:nvPr/>
          </p:nvCxnSpPr>
          <p:spPr>
            <a:xfrm>
              <a:off x="9059736" y="2606682"/>
              <a:ext cx="259150" cy="52313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>
              <a:extLst>
                <a:ext uri="{FF2B5EF4-FFF2-40B4-BE49-F238E27FC236}">
                  <a16:creationId xmlns:a16="http://schemas.microsoft.com/office/drawing/2014/main" id="{4489F995-584F-85F2-3831-C6F492F8F19B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9318886" y="3649900"/>
              <a:ext cx="0" cy="261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35F1A2A0-8A92-E096-68B0-298D2DC787BF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9318885" y="4433112"/>
              <a:ext cx="0" cy="1996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Соединитель: уступ 39">
              <a:extLst>
                <a:ext uri="{FF2B5EF4-FFF2-40B4-BE49-F238E27FC236}">
                  <a16:creationId xmlns:a16="http://schemas.microsoft.com/office/drawing/2014/main" id="{05D35AF2-8B05-39FE-B5FA-8F0C41F0B3E6}"/>
                </a:ext>
              </a:extLst>
            </p:cNvPr>
            <p:cNvCxnSpPr>
              <a:stCxn id="8" idx="2"/>
              <a:endCxn id="9" idx="3"/>
            </p:cNvCxnSpPr>
            <p:nvPr/>
          </p:nvCxnSpPr>
          <p:spPr>
            <a:xfrm rot="5400000">
              <a:off x="8958950" y="5255687"/>
              <a:ext cx="460720" cy="2591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 стрелкой 41">
              <a:extLst>
                <a:ext uri="{FF2B5EF4-FFF2-40B4-BE49-F238E27FC236}">
                  <a16:creationId xmlns:a16="http://schemas.microsoft.com/office/drawing/2014/main" id="{C57C0DEB-34C6-4DDC-DD9D-515D77698120}"/>
                </a:ext>
              </a:extLst>
            </p:cNvPr>
            <p:cNvCxnSpPr>
              <a:stCxn id="9" idx="1"/>
              <a:endCxn id="10" idx="3"/>
            </p:cNvCxnSpPr>
            <p:nvPr/>
          </p:nvCxnSpPr>
          <p:spPr>
            <a:xfrm flipH="1" flipV="1">
              <a:off x="7235098" y="5615621"/>
              <a:ext cx="17276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 стрелкой 45">
              <a:extLst>
                <a:ext uri="{FF2B5EF4-FFF2-40B4-BE49-F238E27FC236}">
                  <a16:creationId xmlns:a16="http://schemas.microsoft.com/office/drawing/2014/main" id="{32544272-DC01-60D8-AB0C-17F51E87CAC5}"/>
                </a:ext>
              </a:extLst>
            </p:cNvPr>
            <p:cNvCxnSpPr>
              <a:stCxn id="10" idx="1"/>
              <a:endCxn id="15" idx="3"/>
            </p:cNvCxnSpPr>
            <p:nvPr/>
          </p:nvCxnSpPr>
          <p:spPr>
            <a:xfrm flipH="1">
              <a:off x="5410460" y="5615621"/>
              <a:ext cx="1727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C6F19CCF-316D-1706-E2A6-41AB45B5F459}"/>
                </a:ext>
              </a:extLst>
            </p:cNvPr>
            <p:cNvSpPr/>
            <p:nvPr/>
          </p:nvSpPr>
          <p:spPr>
            <a:xfrm>
              <a:off x="1292730" y="3267273"/>
              <a:ext cx="1405054" cy="1287395"/>
            </a:xfrm>
            <a:prstGeom prst="roundRect">
              <a:avLst/>
            </a:prstGeom>
            <a:solidFill>
              <a:srgbClr val="FB93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>
                  <a:ln>
                    <a:solidFill>
                      <a:srgbClr val="002060"/>
                    </a:solidFill>
                  </a:ln>
                </a:rPr>
                <a:t>webserver</a:t>
              </a:r>
            </a:p>
          </p:txBody>
        </p:sp>
      </p:grp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5AAA4195-3714-D5BC-8DBF-FE9FD26A9662}"/>
              </a:ext>
            </a:extLst>
          </p:cNvPr>
          <p:cNvCxnSpPr/>
          <p:nvPr/>
        </p:nvCxnSpPr>
        <p:spPr>
          <a:xfrm>
            <a:off x="1688779" y="3716292"/>
            <a:ext cx="579864" cy="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Дата 2">
            <a:extLst>
              <a:ext uri="{FF2B5EF4-FFF2-40B4-BE49-F238E27FC236}">
                <a16:creationId xmlns:a16="http://schemas.microsoft.com/office/drawing/2014/main" id="{5CB5B8D7-F1A5-7684-CE6B-10C42DF5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A79-4217-42CE-9CDD-5E1548008B79}" type="datetime1">
              <a:rPr lang="en-US" smtClean="0"/>
              <a:t>7/26/2025</a:t>
            </a:fld>
            <a:endParaRPr lang="en-US"/>
          </a:p>
        </p:txBody>
      </p:sp>
      <p:sp>
        <p:nvSpPr>
          <p:cNvPr id="18" name="Нижний колонтитул 17">
            <a:extLst>
              <a:ext uri="{FF2B5EF4-FFF2-40B4-BE49-F238E27FC236}">
                <a16:creationId xmlns:a16="http://schemas.microsoft.com/office/drawing/2014/main" id="{9345383F-32DC-3D39-9C3A-068B83847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88B46442-128F-7D63-6C55-2627636DE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16</a:t>
            </a:fld>
            <a:endParaRPr lang="en-US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104DC30-4D3A-32FA-4E04-E30E51FB70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2848299"/>
            <a:ext cx="1586140" cy="169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861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B3530-03EB-BF03-8B95-168577A3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APIs elements in Django:</a:t>
            </a:r>
            <a:endParaRPr lang="en-US" dirty="0"/>
          </a:p>
        </p:txBody>
      </p:sp>
      <p:sp>
        <p:nvSpPr>
          <p:cNvPr id="58" name="Объект 57">
            <a:extLst>
              <a:ext uri="{FF2B5EF4-FFF2-40B4-BE49-F238E27FC236}">
                <a16:creationId xmlns:a16="http://schemas.microsoft.com/office/drawing/2014/main" id="{DB9D6805-C73B-44A5-4677-C1FEE3A2E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/>
              <a:t>Middleware in Django: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AutoNum type="arabicPeriod"/>
            </a:pPr>
            <a:endParaRPr lang="ru-RU"/>
          </a:p>
          <a:p>
            <a:pPr marL="514350" indent="-514350">
              <a:buAutoNum type="arabicPeriod"/>
            </a:pPr>
            <a:endParaRPr lang="de-DE"/>
          </a:p>
          <a:p>
            <a:pPr marL="514350" indent="-514350">
              <a:buAutoNum type="arabicPeriod"/>
            </a:pPr>
            <a:r>
              <a:rPr lang="de-DE"/>
              <a:t>Applied on every request</a:t>
            </a:r>
          </a:p>
          <a:p>
            <a:pPr marL="514350" indent="-514350">
              <a:buAutoNum type="arabicPeriod"/>
            </a:pPr>
            <a:r>
              <a:rPr lang="de-DE"/>
              <a:t>Reduced performance</a:t>
            </a:r>
          </a:p>
          <a:p>
            <a:pPr marL="514350" indent="-514350">
              <a:buAutoNum type="arabicPeriod"/>
            </a:pPr>
            <a:r>
              <a:rPr lang="de-DE"/>
              <a:t>Breaks statelessy</a:t>
            </a:r>
          </a:p>
          <a:p>
            <a:pPr marL="514350" indent="-514350">
              <a:buAutoNum type="arabicPeriod"/>
            </a:pPr>
            <a:r>
              <a:rPr lang="de-DE"/>
              <a:t>Not every middleware suited for every request</a:t>
            </a:r>
            <a:endParaRPr lang="en-US" dirty="0"/>
          </a:p>
          <a:p>
            <a:endParaRPr lang="en-US" dirty="0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3C2CB04A-5CCF-FC1F-2522-91FBFCCB6562}"/>
              </a:ext>
            </a:extLst>
          </p:cNvPr>
          <p:cNvGrpSpPr/>
          <p:nvPr/>
        </p:nvGrpSpPr>
        <p:grpSpPr>
          <a:xfrm>
            <a:off x="4324350" y="1643063"/>
            <a:ext cx="4181476" cy="1462087"/>
            <a:chOff x="3981449" y="1644604"/>
            <a:chExt cx="4371487" cy="1784396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75F7FDFB-BA00-2577-2711-4ADDCD3BEC02}"/>
                </a:ext>
              </a:extLst>
            </p:cNvPr>
            <p:cNvSpPr/>
            <p:nvPr/>
          </p:nvSpPr>
          <p:spPr>
            <a:xfrm>
              <a:off x="3981450" y="1644604"/>
              <a:ext cx="4371486" cy="178439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00"/>
            </a:p>
          </p:txBody>
        </p:sp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84E15A96-6CC6-3FA1-5E4B-24245227C79D}"/>
                </a:ext>
              </a:extLst>
            </p:cNvPr>
            <p:cNvSpPr/>
            <p:nvPr/>
          </p:nvSpPr>
          <p:spPr>
            <a:xfrm>
              <a:off x="4532619" y="2263093"/>
              <a:ext cx="1729294" cy="63954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middleware</a:t>
              </a:r>
              <a:endParaRPr lang="ru-RU" dirty="0"/>
            </a:p>
          </p:txBody>
        </p:sp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2FCD36F0-2754-99CF-A3B3-4EAB9E7486E7}"/>
                </a:ext>
              </a:extLst>
            </p:cNvPr>
            <p:cNvSpPr/>
            <p:nvPr/>
          </p:nvSpPr>
          <p:spPr>
            <a:xfrm>
              <a:off x="6442778" y="2267857"/>
              <a:ext cx="1729294" cy="63954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url</a:t>
              </a:r>
              <a:r>
                <a:rPr lang="de-DE" dirty="0"/>
                <a:t>-dispatcher</a:t>
              </a:r>
              <a:endParaRPr lang="ru-RU" dirty="0"/>
            </a:p>
          </p:txBody>
        </p:sp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701DADA1-0F67-9337-057D-72001F571F12}"/>
                </a:ext>
              </a:extLst>
            </p:cNvPr>
            <p:cNvSpPr/>
            <p:nvPr/>
          </p:nvSpPr>
          <p:spPr>
            <a:xfrm>
              <a:off x="4441115" y="2117340"/>
              <a:ext cx="1729294" cy="63954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middleware</a:t>
              </a:r>
              <a:endParaRPr lang="ru-RU" dirty="0"/>
            </a:p>
          </p:txBody>
        </p:sp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361DA5F8-C97B-D4DE-FAC2-A67559A41BD0}"/>
                </a:ext>
              </a:extLst>
            </p:cNvPr>
            <p:cNvSpPr/>
            <p:nvPr/>
          </p:nvSpPr>
          <p:spPr>
            <a:xfrm>
              <a:off x="4323875" y="1930595"/>
              <a:ext cx="1729294" cy="63954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middleware</a:t>
              </a:r>
              <a:endParaRPr lang="ru-RU" dirty="0"/>
            </a:p>
          </p:txBody>
        </p:sp>
        <p:cxnSp>
          <p:nvCxnSpPr>
            <p:cNvPr id="26" name="Прямая со стрелкой 25">
              <a:extLst>
                <a:ext uri="{FF2B5EF4-FFF2-40B4-BE49-F238E27FC236}">
                  <a16:creationId xmlns:a16="http://schemas.microsoft.com/office/drawing/2014/main" id="{8F001E4C-B2D3-6370-38A8-AF783BDB1FBC}"/>
                </a:ext>
              </a:extLst>
            </p:cNvPr>
            <p:cNvCxnSpPr>
              <a:stCxn id="12" idx="3"/>
              <a:endCxn id="5" idx="1"/>
            </p:cNvCxnSpPr>
            <p:nvPr/>
          </p:nvCxnSpPr>
          <p:spPr>
            <a:xfrm>
              <a:off x="6261913" y="2582868"/>
              <a:ext cx="180865" cy="476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99500E29-0F9D-C553-70B4-E7586E003868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8172071" y="2587630"/>
              <a:ext cx="180865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B5A67360-4A51-2D3A-06DB-668911C98A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1449" y="2362200"/>
              <a:ext cx="342426" cy="5404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Дата 2">
            <a:extLst>
              <a:ext uri="{FF2B5EF4-FFF2-40B4-BE49-F238E27FC236}">
                <a16:creationId xmlns:a16="http://schemas.microsoft.com/office/drawing/2014/main" id="{E027DF80-7964-9671-C2AD-39BE9882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462C8-7875-48FD-9A43-257C63C2B807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EB61A0-5372-64EF-3E5C-BE844C50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A69F8-1123-0E4A-7142-7D0DC6EF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17</a:t>
            </a:fld>
            <a:endParaRPr lang="en-U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92A8EC-C513-B6E4-10BD-BA2EC407316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0447556" y="5113556"/>
            <a:ext cx="2026801" cy="146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40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C9A96B6-0A26-A0D7-B962-F07B4312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Middlware</a:t>
            </a:r>
            <a:r>
              <a:rPr lang="de-DE" dirty="0"/>
              <a:t> alternatives:</a:t>
            </a:r>
            <a:endParaRPr lang="en-US" dirty="0"/>
          </a:p>
        </p:txBody>
      </p:sp>
      <p:sp>
        <p:nvSpPr>
          <p:cNvPr id="17" name="Объект 16">
            <a:extLst>
              <a:ext uri="{FF2B5EF4-FFF2-40B4-BE49-F238E27FC236}">
                <a16:creationId xmlns:a16="http://schemas.microsoft.com/office/drawing/2014/main" id="{C8A62045-19B6-9D43-91F7-D645F0049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21" y="1807511"/>
            <a:ext cx="12107779" cy="4351338"/>
          </a:xfrm>
        </p:spPr>
        <p:txBody>
          <a:bodyPr>
            <a:normAutofit fontScale="85000" lnSpcReduction="10000"/>
          </a:bodyPr>
          <a:lstStyle/>
          <a:p>
            <a:r>
              <a:rPr lang="de-DE" sz="3800"/>
              <a:t>method </a:t>
            </a:r>
            <a:r>
              <a:rPr lang="de-DE" sz="3800" dirty="0"/>
              <a:t>/ </a:t>
            </a:r>
            <a:r>
              <a:rPr lang="de-DE" sz="3800" dirty="0" err="1"/>
              <a:t>function</a:t>
            </a:r>
            <a:r>
              <a:rPr lang="de-DE" sz="3800" dirty="0"/>
              <a:t> </a:t>
            </a:r>
            <a:r>
              <a:rPr lang="de-DE" sz="3800" dirty="0" err="1"/>
              <a:t>decorator</a:t>
            </a:r>
            <a:endParaRPr lang="de-DE" sz="3800" dirty="0"/>
          </a:p>
          <a:p>
            <a:endParaRPr lang="de-DE" dirty="0"/>
          </a:p>
          <a:p>
            <a:pPr marL="0" indent="0">
              <a:buNone/>
            </a:pPr>
            <a:r>
              <a:rPr lang="en-US" b="1" dirty="0">
                <a:solidFill>
                  <a:srgbClr val="D822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django.utils.decorators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D822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method_decorator</a:t>
            </a: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500" b="1" dirty="0">
                <a:solidFill>
                  <a:srgbClr val="D822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500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django.utils.decorators</a:t>
            </a:r>
            <a:r>
              <a:rPr lang="en-US" sz="25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b="1" dirty="0">
                <a:solidFill>
                  <a:srgbClr val="D822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2500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decorator_from_middleware_with_args</a:t>
            </a:r>
            <a:endParaRPr lang="en-US" sz="25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b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cache_func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D822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decorator_from_middleware_with_args</a:t>
            </a: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CacheMiddleware</a:t>
            </a: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b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D822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b="1" dirty="0">
                <a:solidFill>
                  <a:srgbClr val="4584B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method_decorator</a:t>
            </a: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E6DB7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'get'</a:t>
            </a: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cache_func</a:t>
            </a: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E81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3600</a:t>
            </a: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err="1">
                <a:solidFill>
                  <a:srgbClr val="98CE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ProductDetail</a:t>
            </a:r>
            <a:r>
              <a:rPr lang="en-US" b="1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b="1" i="1">
                <a:solidFill>
                  <a:srgbClr val="E2861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</a:t>
            </a:r>
            <a:r>
              <a:rPr lang="en-US" b="1" i="1">
                <a:solidFill>
                  <a:srgbClr val="E2861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tailView</a:t>
            </a: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1" dirty="0">
                <a:solidFill>
                  <a:srgbClr val="AE81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b="1" dirty="0">
              <a:solidFill>
                <a:srgbClr val="DBDBD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23BBBBD-E5DA-4C37-B430-03346AE03A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8977002" y="-115366"/>
            <a:ext cx="2255823" cy="3216805"/>
          </a:xfrm>
          <a:prstGeom prst="rect">
            <a:avLst/>
          </a:prstGeom>
        </p:spPr>
      </p:pic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C5936609-D5EE-2E68-86CE-C96AE75ED88E}"/>
              </a:ext>
            </a:extLst>
          </p:cNvPr>
          <p:cNvSpPr/>
          <p:nvPr/>
        </p:nvSpPr>
        <p:spPr>
          <a:xfrm>
            <a:off x="84220" y="2509171"/>
            <a:ext cx="12107779" cy="3537901"/>
          </a:xfrm>
          <a:custGeom>
            <a:avLst/>
            <a:gdLst>
              <a:gd name="connsiteX0" fmla="*/ 142375 w 12107779"/>
              <a:gd name="connsiteY0" fmla="*/ 2014703 h 3537901"/>
              <a:gd name="connsiteX1" fmla="*/ 84221 w 12107779"/>
              <a:gd name="connsiteY1" fmla="*/ 2072857 h 3537901"/>
              <a:gd name="connsiteX2" fmla="*/ 84221 w 12107779"/>
              <a:gd name="connsiteY2" fmla="*/ 2305464 h 3537901"/>
              <a:gd name="connsiteX3" fmla="*/ 142375 w 12107779"/>
              <a:gd name="connsiteY3" fmla="*/ 2363618 h 3537901"/>
              <a:gd name="connsiteX4" fmla="*/ 3226467 w 12107779"/>
              <a:gd name="connsiteY4" fmla="*/ 2363618 h 3537901"/>
              <a:gd name="connsiteX5" fmla="*/ 3284621 w 12107779"/>
              <a:gd name="connsiteY5" fmla="*/ 2305464 h 3537901"/>
              <a:gd name="connsiteX6" fmla="*/ 3284621 w 12107779"/>
              <a:gd name="connsiteY6" fmla="*/ 2072857 h 3537901"/>
              <a:gd name="connsiteX7" fmla="*/ 3226467 w 12107779"/>
              <a:gd name="connsiteY7" fmla="*/ 2014703 h 3537901"/>
              <a:gd name="connsiteX8" fmla="*/ 2468263 w 12107779"/>
              <a:gd name="connsiteY8" fmla="*/ 1282078 h 3537901"/>
              <a:gd name="connsiteX9" fmla="*/ 2394284 w 12107779"/>
              <a:gd name="connsiteY9" fmla="*/ 1356057 h 3537901"/>
              <a:gd name="connsiteX10" fmla="*/ 2394284 w 12107779"/>
              <a:gd name="connsiteY10" fmla="*/ 1651966 h 3537901"/>
              <a:gd name="connsiteX11" fmla="*/ 2468263 w 12107779"/>
              <a:gd name="connsiteY11" fmla="*/ 1725945 h 3537901"/>
              <a:gd name="connsiteX12" fmla="*/ 8877516 w 12107779"/>
              <a:gd name="connsiteY12" fmla="*/ 1725945 h 3537901"/>
              <a:gd name="connsiteX13" fmla="*/ 8951495 w 12107779"/>
              <a:gd name="connsiteY13" fmla="*/ 1651966 h 3537901"/>
              <a:gd name="connsiteX14" fmla="*/ 8951495 w 12107779"/>
              <a:gd name="connsiteY14" fmla="*/ 1356057 h 3537901"/>
              <a:gd name="connsiteX15" fmla="*/ 8877516 w 12107779"/>
              <a:gd name="connsiteY15" fmla="*/ 1282078 h 3537901"/>
              <a:gd name="connsiteX16" fmla="*/ 589662 w 12107779"/>
              <a:gd name="connsiteY16" fmla="*/ 0 h 3537901"/>
              <a:gd name="connsiteX17" fmla="*/ 11518117 w 12107779"/>
              <a:gd name="connsiteY17" fmla="*/ 0 h 3537901"/>
              <a:gd name="connsiteX18" fmla="*/ 12107779 w 12107779"/>
              <a:gd name="connsiteY18" fmla="*/ 589662 h 3537901"/>
              <a:gd name="connsiteX19" fmla="*/ 12107779 w 12107779"/>
              <a:gd name="connsiteY19" fmla="*/ 2948239 h 3537901"/>
              <a:gd name="connsiteX20" fmla="*/ 11518117 w 12107779"/>
              <a:gd name="connsiteY20" fmla="*/ 3537901 h 3537901"/>
              <a:gd name="connsiteX21" fmla="*/ 589662 w 12107779"/>
              <a:gd name="connsiteY21" fmla="*/ 3537901 h 3537901"/>
              <a:gd name="connsiteX22" fmla="*/ 0 w 12107779"/>
              <a:gd name="connsiteY22" fmla="*/ 2948239 h 3537901"/>
              <a:gd name="connsiteX23" fmla="*/ 0 w 12107779"/>
              <a:gd name="connsiteY23" fmla="*/ 589662 h 3537901"/>
              <a:gd name="connsiteX24" fmla="*/ 589662 w 12107779"/>
              <a:gd name="connsiteY24" fmla="*/ 0 h 35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07779" h="3537901">
                <a:moveTo>
                  <a:pt x="142375" y="2014703"/>
                </a:moveTo>
                <a:cubicBezTo>
                  <a:pt x="110257" y="2014703"/>
                  <a:pt x="84221" y="2040739"/>
                  <a:pt x="84221" y="2072857"/>
                </a:cubicBezTo>
                <a:lnTo>
                  <a:pt x="84221" y="2305464"/>
                </a:lnTo>
                <a:cubicBezTo>
                  <a:pt x="84221" y="2337582"/>
                  <a:pt x="110257" y="2363618"/>
                  <a:pt x="142375" y="2363618"/>
                </a:cubicBezTo>
                <a:lnTo>
                  <a:pt x="3226467" y="2363618"/>
                </a:lnTo>
                <a:cubicBezTo>
                  <a:pt x="3258585" y="2363618"/>
                  <a:pt x="3284621" y="2337582"/>
                  <a:pt x="3284621" y="2305464"/>
                </a:cubicBezTo>
                <a:lnTo>
                  <a:pt x="3284621" y="2072857"/>
                </a:lnTo>
                <a:cubicBezTo>
                  <a:pt x="3284621" y="2040739"/>
                  <a:pt x="3258585" y="2014703"/>
                  <a:pt x="3226467" y="2014703"/>
                </a:cubicBezTo>
                <a:close/>
                <a:moveTo>
                  <a:pt x="2468263" y="1282078"/>
                </a:moveTo>
                <a:cubicBezTo>
                  <a:pt x="2427406" y="1282078"/>
                  <a:pt x="2394284" y="1315200"/>
                  <a:pt x="2394284" y="1356057"/>
                </a:cubicBezTo>
                <a:lnTo>
                  <a:pt x="2394284" y="1651966"/>
                </a:lnTo>
                <a:cubicBezTo>
                  <a:pt x="2394284" y="1692823"/>
                  <a:pt x="2427406" y="1725945"/>
                  <a:pt x="2468263" y="1725945"/>
                </a:cubicBezTo>
                <a:lnTo>
                  <a:pt x="8877516" y="1725945"/>
                </a:lnTo>
                <a:cubicBezTo>
                  <a:pt x="8918373" y="1725945"/>
                  <a:pt x="8951495" y="1692823"/>
                  <a:pt x="8951495" y="1651966"/>
                </a:cubicBezTo>
                <a:lnTo>
                  <a:pt x="8951495" y="1356057"/>
                </a:lnTo>
                <a:cubicBezTo>
                  <a:pt x="8951495" y="1315200"/>
                  <a:pt x="8918373" y="1282078"/>
                  <a:pt x="8877516" y="1282078"/>
                </a:cubicBezTo>
                <a:close/>
                <a:moveTo>
                  <a:pt x="589662" y="0"/>
                </a:moveTo>
                <a:lnTo>
                  <a:pt x="11518117" y="0"/>
                </a:lnTo>
                <a:cubicBezTo>
                  <a:pt x="11843778" y="0"/>
                  <a:pt x="12107779" y="264001"/>
                  <a:pt x="12107779" y="589662"/>
                </a:cubicBezTo>
                <a:lnTo>
                  <a:pt x="12107779" y="2948239"/>
                </a:lnTo>
                <a:cubicBezTo>
                  <a:pt x="12107779" y="3273900"/>
                  <a:pt x="11843778" y="3537901"/>
                  <a:pt x="11518117" y="3537901"/>
                </a:cubicBezTo>
                <a:lnTo>
                  <a:pt x="589662" y="3537901"/>
                </a:lnTo>
                <a:cubicBezTo>
                  <a:pt x="264001" y="3537901"/>
                  <a:pt x="0" y="3273900"/>
                  <a:pt x="0" y="2948239"/>
                </a:cubicBezTo>
                <a:lnTo>
                  <a:pt x="0" y="589662"/>
                </a:lnTo>
                <a:cubicBezTo>
                  <a:pt x="0" y="264001"/>
                  <a:pt x="264001" y="0"/>
                  <a:pt x="589662" y="0"/>
                </a:cubicBez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6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D1407-FD72-B35F-7898-AAFF5325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Important changes in Django 5.2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03D42B-8BB1-AE48-43D1-C75173510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de-DE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3500" b="1">
                <a:solidFill>
                  <a:srgbClr val="D822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3500" b="1">
                <a:solidFill>
                  <a:srgbClr val="4584B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method_decorator</a:t>
            </a:r>
            <a:r>
              <a:rPr lang="en-US" sz="3500" b="1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500" b="1">
                <a:solidFill>
                  <a:srgbClr val="E6DB7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'get'</a:t>
            </a:r>
            <a:r>
              <a:rPr lang="en-US" sz="3500" b="1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500" b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cache_func</a:t>
            </a:r>
            <a:r>
              <a:rPr lang="en-US" sz="3500" b="1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500" b="1">
                <a:solidFill>
                  <a:srgbClr val="AE81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3600</a:t>
            </a:r>
            <a:r>
              <a:rPr lang="en-US" sz="3500" b="1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3500" b="1" i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3500" b="1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500" b="1">
                <a:solidFill>
                  <a:srgbClr val="98CE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ProductDetail</a:t>
            </a:r>
            <a:r>
              <a:rPr lang="en-US" sz="3500" b="1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3500" b="1" i="1">
                <a:solidFill>
                  <a:srgbClr val="E2861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</a:t>
            </a:r>
            <a:r>
              <a:rPr lang="en-US" sz="3500" b="1" i="1">
                <a:solidFill>
                  <a:srgbClr val="E2861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tailView</a:t>
            </a:r>
            <a:r>
              <a:rPr lang="en-US" sz="3500" b="1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3500" b="1">
                <a:solidFill>
                  <a:srgbClr val="AE81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buNone/>
            </a:pPr>
            <a:r>
              <a:rPr lang="en-US" sz="3500" b="1">
                <a:solidFill>
                  <a:srgbClr val="AE81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500" b="1">
                <a:solidFill>
                  <a:srgbClr val="D8226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async </a:t>
            </a:r>
            <a:r>
              <a:rPr lang="en-US" sz="3500" b="1" i="1">
                <a:solidFill>
                  <a:srgbClr val="66D9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3500" b="1">
                <a:solidFill>
                  <a:srgbClr val="D8226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500" b="1">
                <a:solidFill>
                  <a:srgbClr val="4584B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3500" b="1">
                <a:solidFill>
                  <a:srgbClr val="AE81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500" b="1" i="1">
                <a:solidFill>
                  <a:srgbClr val="E2861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3500" b="1">
                <a:solidFill>
                  <a:srgbClr val="AE81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sz="3500" b="1">
                <a:solidFill>
                  <a:srgbClr val="66D9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3500" b="1">
                <a:solidFill>
                  <a:srgbClr val="AE81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3500" b="1">
                <a:solidFill>
                  <a:srgbClr val="AE81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de-DE" sz="3500" b="1">
                <a:solidFill>
                  <a:srgbClr val="66D9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kwargs</a:t>
            </a:r>
            <a:r>
              <a:rPr lang="en-US" sz="3500" b="1">
                <a:solidFill>
                  <a:srgbClr val="AE81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3500" b="1">
                <a:solidFill>
                  <a:srgbClr val="AE81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…</a:t>
            </a:r>
            <a:endParaRPr lang="en-US" sz="3500" b="1">
              <a:solidFill>
                <a:srgbClr val="DBDBD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7E19C2-4E2A-D290-690A-EDCD18A0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6672-7FCE-47AB-9E60-6EF7D2F65CAC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EE9945-7F26-5BCA-DB5E-7AF66D16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E32525-9F72-62ED-5AB9-26D60D14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19</a:t>
            </a:fld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F934699-05A2-4A92-EEE2-32022EFC85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401" y="1961531"/>
            <a:ext cx="10569399" cy="110690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DC6350-C37E-89CA-EF5F-FFD22768F72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528" y="635968"/>
            <a:ext cx="8454188" cy="84264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6BC564-AEBD-1312-5B1B-04857399B21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92343" y="4740532"/>
            <a:ext cx="1899657" cy="2099423"/>
          </a:xfrm>
          <a:custGeom>
            <a:avLst/>
            <a:gdLst>
              <a:gd name="connsiteX0" fmla="*/ 572160 w 2035820"/>
              <a:gd name="connsiteY0" fmla="*/ 0 h 2249905"/>
              <a:gd name="connsiteX1" fmla="*/ 809028 w 2035820"/>
              <a:gd name="connsiteY1" fmla="*/ 0 h 2249905"/>
              <a:gd name="connsiteX2" fmla="*/ 785036 w 2035820"/>
              <a:gd name="connsiteY2" fmla="*/ 80649 h 2249905"/>
              <a:gd name="connsiteX3" fmla="*/ 804588 w 2035820"/>
              <a:gd name="connsiteY3" fmla="*/ 180473 h 2249905"/>
              <a:gd name="connsiteX4" fmla="*/ 1538515 w 2035820"/>
              <a:gd name="connsiteY4" fmla="*/ 48126 h 2249905"/>
              <a:gd name="connsiteX5" fmla="*/ 1815241 w 2035820"/>
              <a:gd name="connsiteY5" fmla="*/ 529389 h 2249905"/>
              <a:gd name="connsiteX6" fmla="*/ 1982743 w 2035820"/>
              <a:gd name="connsiteY6" fmla="*/ 917220 h 2249905"/>
              <a:gd name="connsiteX7" fmla="*/ 2035820 w 2035820"/>
              <a:gd name="connsiteY7" fmla="*/ 1032310 h 2249905"/>
              <a:gd name="connsiteX8" fmla="*/ 2035820 w 2035820"/>
              <a:gd name="connsiteY8" fmla="*/ 2249905 h 2249905"/>
              <a:gd name="connsiteX9" fmla="*/ 0 w 2035820"/>
              <a:gd name="connsiteY9" fmla="*/ 2249905 h 2249905"/>
              <a:gd name="connsiteX10" fmla="*/ 0 w 2035820"/>
              <a:gd name="connsiteY10" fmla="*/ 581320 h 2249905"/>
              <a:gd name="connsiteX11" fmla="*/ 3608 w 2035820"/>
              <a:gd name="connsiteY11" fmla="*/ 577293 h 2249905"/>
              <a:gd name="connsiteX12" fmla="*/ 564803 w 2035820"/>
              <a:gd name="connsiteY12" fmla="*/ 6861 h 2249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35820" h="2249905">
                <a:moveTo>
                  <a:pt x="572160" y="0"/>
                </a:moveTo>
                <a:lnTo>
                  <a:pt x="809028" y="0"/>
                </a:lnTo>
                <a:lnTo>
                  <a:pt x="785036" y="80649"/>
                </a:lnTo>
                <a:cubicBezTo>
                  <a:pt x="773632" y="131720"/>
                  <a:pt x="775010" y="170948"/>
                  <a:pt x="804588" y="180473"/>
                </a:cubicBezTo>
                <a:cubicBezTo>
                  <a:pt x="922899" y="218573"/>
                  <a:pt x="1370073" y="-10027"/>
                  <a:pt x="1538515" y="48126"/>
                </a:cubicBezTo>
                <a:cubicBezTo>
                  <a:pt x="1706957" y="106279"/>
                  <a:pt x="1690915" y="156410"/>
                  <a:pt x="1815241" y="529389"/>
                </a:cubicBezTo>
                <a:cubicBezTo>
                  <a:pt x="1846322" y="622634"/>
                  <a:pt x="1909739" y="759493"/>
                  <a:pt x="1982743" y="917220"/>
                </a:cubicBezTo>
                <a:lnTo>
                  <a:pt x="2035820" y="1032310"/>
                </a:lnTo>
                <a:lnTo>
                  <a:pt x="2035820" y="2249905"/>
                </a:lnTo>
                <a:lnTo>
                  <a:pt x="0" y="2249905"/>
                </a:lnTo>
                <a:lnTo>
                  <a:pt x="0" y="581320"/>
                </a:lnTo>
                <a:lnTo>
                  <a:pt x="3608" y="577293"/>
                </a:lnTo>
                <a:cubicBezTo>
                  <a:pt x="189122" y="373754"/>
                  <a:pt x="399134" y="163413"/>
                  <a:pt x="564803" y="68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6122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B3530-03EB-BF03-8B95-168577A3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APIs elements in Django:</a:t>
            </a:r>
            <a:endParaRPr lang="en-US" dirty="0"/>
          </a:p>
        </p:txBody>
      </p:sp>
      <p:sp>
        <p:nvSpPr>
          <p:cNvPr id="58" name="Объект 57">
            <a:extLst>
              <a:ext uri="{FF2B5EF4-FFF2-40B4-BE49-F238E27FC236}">
                <a16:creationId xmlns:a16="http://schemas.microsoft.com/office/drawing/2014/main" id="{DB9D6805-C73B-44A5-4677-C1FEE3A2E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420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/>
              <a:t>Url dispatcher in Django: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AutoNum type="arabicPeriod"/>
            </a:pPr>
            <a:r>
              <a:rPr lang="de-DE"/>
              <a:t>Class </a:t>
            </a:r>
            <a:r>
              <a:rPr lang="en-US" b="1">
                <a:latin typeface="DTLProkyonSTMedium" panose="02000000000000000000" pitchFamily="50" charset="0"/>
              </a:rPr>
              <a:t>URLResolver</a:t>
            </a:r>
            <a:r>
              <a:rPr lang="en-US"/>
              <a:t> aka “urlpatterns”</a:t>
            </a:r>
            <a:endParaRPr lang="ru-RU"/>
          </a:p>
          <a:p>
            <a:pPr marL="514350" indent="-514350">
              <a:buAutoNum type="arabicPeriod"/>
            </a:pPr>
            <a:endParaRPr lang="de-DE"/>
          </a:p>
          <a:p>
            <a:pPr marL="514350" indent="-514350">
              <a:buAutoNum type="arabicPeriod"/>
            </a:pPr>
            <a:r>
              <a:rPr lang="de-DE"/>
              <a:t>Provide appropriated handler by URI from request</a:t>
            </a:r>
          </a:p>
          <a:p>
            <a:pPr marL="514350" indent="-514350">
              <a:buAutoNum type="arabicPeriod"/>
            </a:pPr>
            <a:endParaRPr lang="de-DE"/>
          </a:p>
          <a:p>
            <a:pPr marL="514350" indent="-514350">
              <a:buAutoNum type="arabicPeriod"/>
            </a:pPr>
            <a:r>
              <a:rPr lang="de-DE"/>
              <a:t>Single url or group of urls can be wrapped by decorator instead of using middleware.</a:t>
            </a:r>
          </a:p>
          <a:p>
            <a:pPr marL="0" indent="0">
              <a:buNone/>
            </a:pPr>
            <a:endParaRPr lang="de-DE"/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0C0581FE-D682-DEBD-C832-0D557FA3A93D}"/>
              </a:ext>
            </a:extLst>
          </p:cNvPr>
          <p:cNvGrpSpPr/>
          <p:nvPr/>
        </p:nvGrpSpPr>
        <p:grpSpPr>
          <a:xfrm>
            <a:off x="4695824" y="2009774"/>
            <a:ext cx="5829301" cy="928386"/>
            <a:chOff x="4705349" y="2019299"/>
            <a:chExt cx="5829301" cy="928386"/>
          </a:xfrm>
        </p:grpSpPr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3D0A595A-7D1F-01D4-CEC2-3A4E66B3D424}"/>
                </a:ext>
              </a:extLst>
            </p:cNvPr>
            <p:cNvSpPr/>
            <p:nvPr/>
          </p:nvSpPr>
          <p:spPr>
            <a:xfrm>
              <a:off x="4705349" y="2019299"/>
              <a:ext cx="5829301" cy="790575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00"/>
            </a:p>
          </p:txBody>
        </p:sp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47BC3700-F061-C0D2-0B51-209F6508FE16}"/>
                </a:ext>
              </a:extLst>
            </p:cNvPr>
            <p:cNvSpPr/>
            <p:nvPr/>
          </p:nvSpPr>
          <p:spPr>
            <a:xfrm>
              <a:off x="4860934" y="2159593"/>
              <a:ext cx="1651871" cy="52214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middleware</a:t>
              </a:r>
              <a:endParaRPr lang="ru-RU" dirty="0"/>
            </a:p>
          </p:txBody>
        </p:sp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0CD7D6B5-A907-6FEA-30CC-ABC40088621C}"/>
                </a:ext>
              </a:extLst>
            </p:cNvPr>
            <p:cNvSpPr/>
            <p:nvPr/>
          </p:nvSpPr>
          <p:spPr>
            <a:xfrm>
              <a:off x="6685572" y="2163482"/>
              <a:ext cx="1651871" cy="5221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url</a:t>
              </a:r>
              <a:r>
                <a:rPr lang="de-DE" dirty="0"/>
                <a:t>-dispatcher</a:t>
              </a:r>
              <a:endParaRPr lang="ru-RU" dirty="0"/>
            </a:p>
          </p:txBody>
        </p:sp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8B207522-C998-C867-C88A-9EDC59CEE90A}"/>
                </a:ext>
              </a:extLst>
            </p:cNvPr>
            <p:cNvSpPr/>
            <p:nvPr/>
          </p:nvSpPr>
          <p:spPr>
            <a:xfrm>
              <a:off x="8510210" y="2163482"/>
              <a:ext cx="1651871" cy="52214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view.as_view</a:t>
              </a:r>
              <a:endParaRPr lang="ru-RU" dirty="0"/>
            </a:p>
          </p:txBody>
        </p: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354C70A8-486F-CA02-3B52-A35577B1F340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6512805" y="2420663"/>
              <a:ext cx="172767" cy="3889"/>
            </a:xfrm>
            <a:prstGeom prst="straightConnector1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AE8C527D-B108-6BBA-738A-30A9287935D2}"/>
                </a:ext>
              </a:extLst>
            </p:cNvPr>
            <p:cNvCxnSpPr>
              <a:cxnSpLocks/>
              <a:stCxn id="9" idx="3"/>
              <a:endCxn id="22" idx="1"/>
            </p:cNvCxnSpPr>
            <p:nvPr/>
          </p:nvCxnSpPr>
          <p:spPr>
            <a:xfrm>
              <a:off x="8337443" y="2424551"/>
              <a:ext cx="1727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Соединитель: уступ 31">
              <a:extLst>
                <a:ext uri="{FF2B5EF4-FFF2-40B4-BE49-F238E27FC236}">
                  <a16:creationId xmlns:a16="http://schemas.microsoft.com/office/drawing/2014/main" id="{2A0B4AA1-06BE-7C91-68A7-67FF33B978EC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>
              <a:off x="10162081" y="2424552"/>
              <a:ext cx="240381" cy="523133"/>
            </a:xfrm>
            <a:prstGeom prst="bentConnector2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Дата 2">
            <a:extLst>
              <a:ext uri="{FF2B5EF4-FFF2-40B4-BE49-F238E27FC236}">
                <a16:creationId xmlns:a16="http://schemas.microsoft.com/office/drawing/2014/main" id="{EC2F1BE7-CE9F-2329-6973-5385E5A80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26BC-889E-44C1-943C-B31067728AD5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C0B1A-2B58-CA27-DC9E-E22113A5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7381E6-C20B-B030-D3C3-CB6FD0BE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20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F1A1F8-C094-F3F7-C642-43EBB6D628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782174" y="178751"/>
            <a:ext cx="2228850" cy="6292516"/>
          </a:xfrm>
          <a:custGeom>
            <a:avLst/>
            <a:gdLst>
              <a:gd name="connsiteX0" fmla="*/ 270078 w 2228850"/>
              <a:gd name="connsiteY0" fmla="*/ 0 h 6292516"/>
              <a:gd name="connsiteX1" fmla="*/ 1061787 w 2228850"/>
              <a:gd name="connsiteY1" fmla="*/ 0 h 6292516"/>
              <a:gd name="connsiteX2" fmla="*/ 1555082 w 2228850"/>
              <a:gd name="connsiteY2" fmla="*/ 240632 h 6292516"/>
              <a:gd name="connsiteX3" fmla="*/ 2084471 w 2228850"/>
              <a:gd name="connsiteY3" fmla="*/ 228600 h 6292516"/>
              <a:gd name="connsiteX4" fmla="*/ 2224444 w 2228850"/>
              <a:gd name="connsiteY4" fmla="*/ 439353 h 6292516"/>
              <a:gd name="connsiteX5" fmla="*/ 2228850 w 2228850"/>
              <a:gd name="connsiteY5" fmla="*/ 450332 h 6292516"/>
              <a:gd name="connsiteX6" fmla="*/ 2228850 w 2228850"/>
              <a:gd name="connsiteY6" fmla="*/ 926432 h 6292516"/>
              <a:gd name="connsiteX7" fmla="*/ 1061787 w 2228850"/>
              <a:gd name="connsiteY7" fmla="*/ 1600200 h 6292516"/>
              <a:gd name="connsiteX8" fmla="*/ 1049755 w 2228850"/>
              <a:gd name="connsiteY8" fmla="*/ 2273969 h 6292516"/>
              <a:gd name="connsiteX9" fmla="*/ 1230229 w 2228850"/>
              <a:gd name="connsiteY9" fmla="*/ 3416969 h 6292516"/>
              <a:gd name="connsiteX10" fmla="*/ 881313 w 2228850"/>
              <a:gd name="connsiteY10" fmla="*/ 4848727 h 6292516"/>
              <a:gd name="connsiteX11" fmla="*/ 857250 w 2228850"/>
              <a:gd name="connsiteY11" fmla="*/ 5594684 h 6292516"/>
              <a:gd name="connsiteX12" fmla="*/ 1133976 w 2228850"/>
              <a:gd name="connsiteY12" fmla="*/ 6015790 h 6292516"/>
              <a:gd name="connsiteX13" fmla="*/ 1244798 w 2228850"/>
              <a:gd name="connsiteY13" fmla="*/ 6259712 h 6292516"/>
              <a:gd name="connsiteX14" fmla="*/ 1249319 w 2228850"/>
              <a:gd name="connsiteY14" fmla="*/ 6292516 h 6292516"/>
              <a:gd name="connsiteX15" fmla="*/ 726250 w 2228850"/>
              <a:gd name="connsiteY15" fmla="*/ 6292516 h 6292516"/>
              <a:gd name="connsiteX16" fmla="*/ 690288 w 2228850"/>
              <a:gd name="connsiteY16" fmla="*/ 6211526 h 6292516"/>
              <a:gd name="connsiteX17" fmla="*/ 436145 w 2228850"/>
              <a:gd name="connsiteY17" fmla="*/ 5041232 h 6292516"/>
              <a:gd name="connsiteX18" fmla="*/ 785061 w 2228850"/>
              <a:gd name="connsiteY18" fmla="*/ 3140242 h 6292516"/>
              <a:gd name="connsiteX19" fmla="*/ 688808 w 2228850"/>
              <a:gd name="connsiteY19" fmla="*/ 2213811 h 6292516"/>
              <a:gd name="connsiteX20" fmla="*/ 472240 w 2228850"/>
              <a:gd name="connsiteY20" fmla="*/ 1371600 h 6292516"/>
              <a:gd name="connsiteX21" fmla="*/ 21902 w 2228850"/>
              <a:gd name="connsiteY21" fmla="*/ 987530 h 6292516"/>
              <a:gd name="connsiteX22" fmla="*/ 0 w 2228850"/>
              <a:gd name="connsiteY22" fmla="*/ 968147 h 6292516"/>
              <a:gd name="connsiteX23" fmla="*/ 0 w 2228850"/>
              <a:gd name="connsiteY23" fmla="*/ 394964 h 6292516"/>
              <a:gd name="connsiteX24" fmla="*/ 13348 w 2228850"/>
              <a:gd name="connsiteY24" fmla="*/ 347882 h 6292516"/>
              <a:gd name="connsiteX25" fmla="*/ 231608 w 2228850"/>
              <a:gd name="connsiteY25" fmla="*/ 12032 h 629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28850" h="6292516">
                <a:moveTo>
                  <a:pt x="270078" y="0"/>
                </a:moveTo>
                <a:lnTo>
                  <a:pt x="1061787" y="0"/>
                </a:lnTo>
                <a:cubicBezTo>
                  <a:pt x="1282366" y="38100"/>
                  <a:pt x="1384635" y="202532"/>
                  <a:pt x="1555082" y="240632"/>
                </a:cubicBezTo>
                <a:cubicBezTo>
                  <a:pt x="1725529" y="278732"/>
                  <a:pt x="1972176" y="114300"/>
                  <a:pt x="2084471" y="228600"/>
                </a:cubicBezTo>
                <a:cubicBezTo>
                  <a:pt x="2126582" y="271463"/>
                  <a:pt x="2181382" y="348164"/>
                  <a:pt x="2224444" y="439353"/>
                </a:cubicBezTo>
                <a:lnTo>
                  <a:pt x="2228850" y="450332"/>
                </a:lnTo>
                <a:lnTo>
                  <a:pt x="2228850" y="926432"/>
                </a:lnTo>
                <a:cubicBezTo>
                  <a:pt x="2058403" y="1155032"/>
                  <a:pt x="1258303" y="1375611"/>
                  <a:pt x="1061787" y="1600200"/>
                </a:cubicBezTo>
                <a:cubicBezTo>
                  <a:pt x="865271" y="1824789"/>
                  <a:pt x="1021681" y="1971174"/>
                  <a:pt x="1049755" y="2273969"/>
                </a:cubicBezTo>
                <a:cubicBezTo>
                  <a:pt x="1077829" y="2576764"/>
                  <a:pt x="1258303" y="2987843"/>
                  <a:pt x="1230229" y="3416969"/>
                </a:cubicBezTo>
                <a:cubicBezTo>
                  <a:pt x="1202155" y="3846095"/>
                  <a:pt x="943476" y="4485775"/>
                  <a:pt x="881313" y="4848727"/>
                </a:cubicBezTo>
                <a:cubicBezTo>
                  <a:pt x="819150" y="5211680"/>
                  <a:pt x="815139" y="5400173"/>
                  <a:pt x="857250" y="5594684"/>
                </a:cubicBezTo>
                <a:cubicBezTo>
                  <a:pt x="899361" y="5789195"/>
                  <a:pt x="1067802" y="5893469"/>
                  <a:pt x="1133976" y="6015790"/>
                </a:cubicBezTo>
                <a:cubicBezTo>
                  <a:pt x="1183607" y="6107531"/>
                  <a:pt x="1226469" y="6187993"/>
                  <a:pt x="1244798" y="6259712"/>
                </a:cubicBezTo>
                <a:lnTo>
                  <a:pt x="1249319" y="6292516"/>
                </a:lnTo>
                <a:lnTo>
                  <a:pt x="726250" y="6292516"/>
                </a:lnTo>
                <a:lnTo>
                  <a:pt x="690288" y="6211526"/>
                </a:lnTo>
                <a:cubicBezTo>
                  <a:pt x="575636" y="5941564"/>
                  <a:pt x="429127" y="5504448"/>
                  <a:pt x="436145" y="5041232"/>
                </a:cubicBezTo>
                <a:cubicBezTo>
                  <a:pt x="444166" y="4511843"/>
                  <a:pt x="742951" y="3611479"/>
                  <a:pt x="785061" y="3140242"/>
                </a:cubicBezTo>
                <a:cubicBezTo>
                  <a:pt x="827171" y="2669005"/>
                  <a:pt x="740945" y="2508585"/>
                  <a:pt x="688808" y="2213811"/>
                </a:cubicBezTo>
                <a:cubicBezTo>
                  <a:pt x="636671" y="1919037"/>
                  <a:pt x="600577" y="1594184"/>
                  <a:pt x="472240" y="1371600"/>
                </a:cubicBezTo>
                <a:cubicBezTo>
                  <a:pt x="375987" y="1204662"/>
                  <a:pt x="159043" y="1095250"/>
                  <a:pt x="21902" y="987530"/>
                </a:cubicBezTo>
                <a:lnTo>
                  <a:pt x="0" y="968147"/>
                </a:lnTo>
                <a:lnTo>
                  <a:pt x="0" y="394964"/>
                </a:lnTo>
                <a:lnTo>
                  <a:pt x="13348" y="347882"/>
                </a:lnTo>
                <a:cubicBezTo>
                  <a:pt x="48878" y="217321"/>
                  <a:pt x="96253" y="70686"/>
                  <a:pt x="231608" y="1203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0826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C9A96B6-0A26-A0D7-B962-F07B4312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Middlware</a:t>
            </a:r>
            <a:r>
              <a:rPr lang="de-DE" dirty="0"/>
              <a:t> alternatives:</a:t>
            </a:r>
            <a:endParaRPr lang="en-US" dirty="0"/>
          </a:p>
        </p:txBody>
      </p:sp>
      <p:sp>
        <p:nvSpPr>
          <p:cNvPr id="17" name="Объект 16">
            <a:extLst>
              <a:ext uri="{FF2B5EF4-FFF2-40B4-BE49-F238E27FC236}">
                <a16:creationId xmlns:a16="http://schemas.microsoft.com/office/drawing/2014/main" id="{C8A62045-19B6-9D43-91F7-D645F0049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70" y="1795479"/>
            <a:ext cx="1236176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/>
              <a:t>wrappers for groups of urls (still not async)</a:t>
            </a:r>
            <a:endParaRPr lang="ru-RU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sz="2400" b="1" dirty="0">
                <a:solidFill>
                  <a:srgbClr val="D822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authlib.integrations.django_oauth2 </a:t>
            </a:r>
            <a:r>
              <a:rPr lang="en-US" sz="2400" b="1" dirty="0">
                <a:solidFill>
                  <a:srgbClr val="D822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2400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ResourceProtector</a:t>
            </a:r>
            <a:endParaRPr lang="ru-RU" sz="2400" b="1" dirty="0">
              <a:solidFill>
                <a:srgbClr val="DBDBD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sz="2400" b="1" dirty="0">
              <a:solidFill>
                <a:srgbClr val="DBDBDB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jwt_protector</a:t>
            </a:r>
            <a:r>
              <a:rPr lang="en-US" sz="2400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D822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4584B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ResourceProtector</a:t>
            </a:r>
            <a:r>
              <a:rPr lang="en-US" sz="2400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ru-RU" sz="24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urlpatterns</a:t>
            </a:r>
            <a:r>
              <a:rPr lang="en-US" sz="2400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D822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400" b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US" sz="2400" b="1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>
                <a:solidFill>
                  <a:srgbClr val="E6DB7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‘api/'</a:t>
            </a:r>
            <a:r>
              <a:rPr lang="en-US" sz="2400" b="1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solidFill>
                  <a:srgbClr val="4584B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jwt_protector</a:t>
            </a:r>
            <a:r>
              <a:rPr lang="en-US" sz="2400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en-US" sz="2400" b="1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>
                <a:solidFill>
                  <a:srgbClr val="E6DB7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'api</a:t>
            </a:r>
            <a:r>
              <a:rPr lang="en-US" sz="2400" b="1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.urls</a:t>
            </a:r>
            <a:r>
              <a:rPr lang="en-US" sz="2400" b="1" dirty="0">
                <a:solidFill>
                  <a:srgbClr val="E6DB7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b="1" dirty="0">
                <a:solidFill>
                  <a:srgbClr val="DBDB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)))]</a:t>
            </a:r>
          </a:p>
          <a:p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C689B3-E777-A584-A093-4F0BD3D431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204747" y="4633985"/>
            <a:ext cx="1782504" cy="2665527"/>
          </a:xfrm>
          <a:prstGeom prst="rect">
            <a:avLst/>
          </a:prstGeom>
        </p:spPr>
      </p:pic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49EC25C3-0DF0-0398-FC43-5F406DB37776}"/>
              </a:ext>
            </a:extLst>
          </p:cNvPr>
          <p:cNvSpPr/>
          <p:nvPr/>
        </p:nvSpPr>
        <p:spPr>
          <a:xfrm>
            <a:off x="196770" y="2622884"/>
            <a:ext cx="11995230" cy="2347821"/>
          </a:xfrm>
          <a:custGeom>
            <a:avLst/>
            <a:gdLst>
              <a:gd name="connsiteX0" fmla="*/ 5191373 w 11995230"/>
              <a:gd name="connsiteY0" fmla="*/ 1515979 h 2347821"/>
              <a:gd name="connsiteX1" fmla="*/ 5109157 w 11995230"/>
              <a:gd name="connsiteY1" fmla="*/ 1598196 h 2347821"/>
              <a:gd name="connsiteX2" fmla="*/ 5109157 w 11995230"/>
              <a:gd name="connsiteY2" fmla="*/ 1927057 h 2347821"/>
              <a:gd name="connsiteX3" fmla="*/ 5191373 w 11995230"/>
              <a:gd name="connsiteY3" fmla="*/ 2009274 h 2347821"/>
              <a:gd name="connsiteX4" fmla="*/ 11331487 w 11995230"/>
              <a:gd name="connsiteY4" fmla="*/ 2009274 h 2347821"/>
              <a:gd name="connsiteX5" fmla="*/ 11413704 w 11995230"/>
              <a:gd name="connsiteY5" fmla="*/ 1927057 h 2347821"/>
              <a:gd name="connsiteX6" fmla="*/ 11413704 w 11995230"/>
              <a:gd name="connsiteY6" fmla="*/ 1598196 h 2347821"/>
              <a:gd name="connsiteX7" fmla="*/ 11331487 w 11995230"/>
              <a:gd name="connsiteY7" fmla="*/ 1515979 h 2347821"/>
              <a:gd name="connsiteX8" fmla="*/ 391311 w 11995230"/>
              <a:gd name="connsiteY8" fmla="*/ 0 h 2347821"/>
              <a:gd name="connsiteX9" fmla="*/ 11603919 w 11995230"/>
              <a:gd name="connsiteY9" fmla="*/ 0 h 2347821"/>
              <a:gd name="connsiteX10" fmla="*/ 11995230 w 11995230"/>
              <a:gd name="connsiteY10" fmla="*/ 391311 h 2347821"/>
              <a:gd name="connsiteX11" fmla="*/ 11995230 w 11995230"/>
              <a:gd name="connsiteY11" fmla="*/ 1956510 h 2347821"/>
              <a:gd name="connsiteX12" fmla="*/ 11603919 w 11995230"/>
              <a:gd name="connsiteY12" fmla="*/ 2347821 h 2347821"/>
              <a:gd name="connsiteX13" fmla="*/ 391311 w 11995230"/>
              <a:gd name="connsiteY13" fmla="*/ 2347821 h 2347821"/>
              <a:gd name="connsiteX14" fmla="*/ 0 w 11995230"/>
              <a:gd name="connsiteY14" fmla="*/ 1956510 h 2347821"/>
              <a:gd name="connsiteX15" fmla="*/ 0 w 11995230"/>
              <a:gd name="connsiteY15" fmla="*/ 391311 h 2347821"/>
              <a:gd name="connsiteX16" fmla="*/ 391311 w 11995230"/>
              <a:gd name="connsiteY16" fmla="*/ 0 h 234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995230" h="2347821">
                <a:moveTo>
                  <a:pt x="5191373" y="1515979"/>
                </a:moveTo>
                <a:cubicBezTo>
                  <a:pt x="5145966" y="1515979"/>
                  <a:pt x="5109157" y="1552789"/>
                  <a:pt x="5109157" y="1598196"/>
                </a:cubicBezTo>
                <a:lnTo>
                  <a:pt x="5109157" y="1927057"/>
                </a:lnTo>
                <a:cubicBezTo>
                  <a:pt x="5109157" y="1972464"/>
                  <a:pt x="5145966" y="2009274"/>
                  <a:pt x="5191373" y="2009274"/>
                </a:cubicBezTo>
                <a:lnTo>
                  <a:pt x="11331487" y="2009274"/>
                </a:lnTo>
                <a:cubicBezTo>
                  <a:pt x="11376894" y="2009274"/>
                  <a:pt x="11413704" y="1972464"/>
                  <a:pt x="11413704" y="1927057"/>
                </a:cubicBezTo>
                <a:lnTo>
                  <a:pt x="11413704" y="1598196"/>
                </a:lnTo>
                <a:cubicBezTo>
                  <a:pt x="11413704" y="1552789"/>
                  <a:pt x="11376894" y="1515979"/>
                  <a:pt x="11331487" y="1515979"/>
                </a:cubicBezTo>
                <a:close/>
                <a:moveTo>
                  <a:pt x="391311" y="0"/>
                </a:moveTo>
                <a:lnTo>
                  <a:pt x="11603919" y="0"/>
                </a:lnTo>
                <a:cubicBezTo>
                  <a:pt x="11820034" y="0"/>
                  <a:pt x="11995230" y="175196"/>
                  <a:pt x="11995230" y="391311"/>
                </a:cubicBezTo>
                <a:lnTo>
                  <a:pt x="11995230" y="1956510"/>
                </a:lnTo>
                <a:cubicBezTo>
                  <a:pt x="11995230" y="2172625"/>
                  <a:pt x="11820034" y="2347821"/>
                  <a:pt x="11603919" y="2347821"/>
                </a:cubicBezTo>
                <a:lnTo>
                  <a:pt x="391311" y="2347821"/>
                </a:lnTo>
                <a:cubicBezTo>
                  <a:pt x="175196" y="2347821"/>
                  <a:pt x="0" y="2172625"/>
                  <a:pt x="0" y="1956510"/>
                </a:cubicBezTo>
                <a:lnTo>
                  <a:pt x="0" y="391311"/>
                </a:lnTo>
                <a:cubicBezTo>
                  <a:pt x="0" y="175196"/>
                  <a:pt x="175196" y="0"/>
                  <a:pt x="391311" y="0"/>
                </a:cubicBezTo>
                <a:close/>
              </a:path>
            </a:pathLst>
          </a:cu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9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B3530-03EB-BF03-8B95-168577A3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/>
              <a:t>APIs elements in Django:</a:t>
            </a:r>
            <a:endParaRPr lang="en-US" dirty="0"/>
          </a:p>
        </p:txBody>
      </p:sp>
      <p:sp>
        <p:nvSpPr>
          <p:cNvPr id="58" name="Объект 57">
            <a:extLst>
              <a:ext uri="{FF2B5EF4-FFF2-40B4-BE49-F238E27FC236}">
                <a16:creationId xmlns:a16="http://schemas.microsoft.com/office/drawing/2014/main" id="{DB9D6805-C73B-44A5-4677-C1FEE3A2E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sync/async FB views </a:t>
            </a:r>
            <a:r>
              <a:rPr lang="de-DE"/>
              <a:t>or G</a:t>
            </a:r>
            <a:r>
              <a:rPr lang="en-US"/>
              <a:t>CB views</a:t>
            </a:r>
          </a:p>
          <a:p>
            <a:endParaRPr lang="en-US"/>
          </a:p>
          <a:p>
            <a:r>
              <a:rPr lang="en-US"/>
              <a:t>GCBView.dispatch Provide handler</a:t>
            </a:r>
          </a:p>
          <a:p>
            <a:pPr marL="0" indent="0">
              <a:buNone/>
            </a:pPr>
            <a:r>
              <a:rPr lang="en-US"/>
              <a:t>for appropriate request.method</a:t>
            </a:r>
          </a:p>
          <a:p>
            <a:endParaRPr lang="de-DE"/>
          </a:p>
          <a:p>
            <a:r>
              <a:rPr lang="de-DE"/>
              <a:t>response object should be returned</a:t>
            </a:r>
            <a:endParaRPr lang="en-US"/>
          </a:p>
          <a:p>
            <a:pPr marL="0" indent="0">
              <a:buNone/>
            </a:pPr>
            <a:endParaRPr lang="ru-RU"/>
          </a:p>
          <a:p>
            <a:endParaRPr lang="en-US"/>
          </a:p>
          <a:p>
            <a:endParaRPr lang="en-US" sz="320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5F7FDFB-BA00-2577-2711-4ADDCD3BEC02}"/>
              </a:ext>
            </a:extLst>
          </p:cNvPr>
          <p:cNvSpPr/>
          <p:nvPr/>
        </p:nvSpPr>
        <p:spPr>
          <a:xfrm>
            <a:off x="6372224" y="1642097"/>
            <a:ext cx="4981575" cy="205360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FCD36F0-2754-99CF-A3B3-4EAB9E7486E7}"/>
              </a:ext>
            </a:extLst>
          </p:cNvPr>
          <p:cNvSpPr/>
          <p:nvPr/>
        </p:nvSpPr>
        <p:spPr>
          <a:xfrm>
            <a:off x="6676047" y="2150933"/>
            <a:ext cx="1651871" cy="5221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url</a:t>
            </a:r>
            <a:r>
              <a:rPr lang="de-DE" dirty="0"/>
              <a:t>-dispatcher</a:t>
            </a:r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5CBEAA9-60F9-49F9-1EAF-1D1B3BFEBEAE}"/>
              </a:ext>
            </a:extLst>
          </p:cNvPr>
          <p:cNvSpPr/>
          <p:nvPr/>
        </p:nvSpPr>
        <p:spPr>
          <a:xfrm>
            <a:off x="9591675" y="2931835"/>
            <a:ext cx="1651871" cy="5221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Validators</a:t>
            </a:r>
            <a:endParaRPr lang="de-DE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6CC0558-CF91-A707-E084-F886AA208F4D}"/>
              </a:ext>
            </a:extLst>
          </p:cNvPr>
          <p:cNvSpPr/>
          <p:nvPr/>
        </p:nvSpPr>
        <p:spPr>
          <a:xfrm>
            <a:off x="8500685" y="2150933"/>
            <a:ext cx="1651871" cy="522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view.as</a:t>
            </a:r>
            <a:r>
              <a:rPr lang="de-DE" dirty="0" err="1"/>
              <a:t>_view</a:t>
            </a:r>
            <a:endParaRPr lang="ru-RU" dirty="0"/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8F001E4C-B2D3-6370-38A8-AF783BDB1FB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503280" y="2408114"/>
            <a:ext cx="172767" cy="3889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99500E29-0F9D-C553-70B4-E7586E003868}"/>
              </a:ext>
            </a:extLst>
          </p:cNvPr>
          <p:cNvCxnSpPr>
            <a:stCxn id="5" idx="3"/>
            <a:endCxn id="14" idx="1"/>
          </p:cNvCxnSpPr>
          <p:nvPr/>
        </p:nvCxnSpPr>
        <p:spPr>
          <a:xfrm>
            <a:off x="8327918" y="2412002"/>
            <a:ext cx="172767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id="{82CA03D4-1FFE-8B46-4EEF-032D12B7FA18}"/>
              </a:ext>
            </a:extLst>
          </p:cNvPr>
          <p:cNvCxnSpPr>
            <a:cxnSpLocks/>
            <a:stCxn id="14" idx="3"/>
            <a:endCxn id="6" idx="0"/>
          </p:cNvCxnSpPr>
          <p:nvPr/>
        </p:nvCxnSpPr>
        <p:spPr>
          <a:xfrm>
            <a:off x="10152556" y="2412003"/>
            <a:ext cx="265055" cy="5198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4489F995-584F-85F2-3831-C6F492F8F19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0417611" y="3453975"/>
            <a:ext cx="0" cy="24172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Дата 2">
            <a:extLst>
              <a:ext uri="{FF2B5EF4-FFF2-40B4-BE49-F238E27FC236}">
                <a16:creationId xmlns:a16="http://schemas.microsoft.com/office/drawing/2014/main" id="{907E048B-83BA-30E3-90FF-957E176B1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2AF6-A7A2-48C8-BEA4-A649937CC812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E0FC6C9-0D1C-F449-B8FB-3CE83D430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215E6E-B8DC-214D-2369-171A0CC0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22</a:t>
            </a:fld>
            <a:endParaRPr lang="en-US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5C59DA2-68C7-C2C3-CD93-560CCCF03C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7919" y="3830637"/>
            <a:ext cx="2089692" cy="295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53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B3530-03EB-BF03-8B95-168577A3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/>
              <a:t>APIs elements in Django:</a:t>
            </a:r>
            <a:endParaRPr lang="en-US" dirty="0"/>
          </a:p>
        </p:txBody>
      </p:sp>
      <p:sp>
        <p:nvSpPr>
          <p:cNvPr id="58" name="Объект 57">
            <a:extLst>
              <a:ext uri="{FF2B5EF4-FFF2-40B4-BE49-F238E27FC236}">
                <a16:creationId xmlns:a16="http://schemas.microsoft.com/office/drawing/2014/main" id="{DB9D6805-C73B-44A5-4677-C1FEE3A2E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Django.forms.Form as a data validator.</a:t>
            </a:r>
          </a:p>
          <a:p>
            <a:endParaRPr lang="en-US"/>
          </a:p>
          <a:p>
            <a:r>
              <a:rPr lang="en-US"/>
              <a:t>Simple data validation with Validators</a:t>
            </a:r>
          </a:p>
          <a:p>
            <a:endParaRPr lang="en-US"/>
          </a:p>
          <a:p>
            <a:r>
              <a:rPr lang="en-US"/>
              <a:t>Complex validation on Form._post_clean()</a:t>
            </a:r>
          </a:p>
          <a:p>
            <a:pPr marL="0" indent="0">
              <a:buNone/>
            </a:pPr>
            <a:endParaRPr lang="en-US" sz="320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 dirty="0"/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B5D2AC29-548D-B88F-B772-19F5F98718F2}"/>
              </a:ext>
            </a:extLst>
          </p:cNvPr>
          <p:cNvGrpSpPr/>
          <p:nvPr/>
        </p:nvGrpSpPr>
        <p:grpSpPr>
          <a:xfrm>
            <a:off x="8512151" y="1643062"/>
            <a:ext cx="3152340" cy="2833687"/>
            <a:chOff x="7635851" y="1298085"/>
            <a:chExt cx="3152340" cy="2833687"/>
          </a:xfrm>
        </p:grpSpPr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C8FBE638-576C-C94B-BB9D-7F24D5417EDA}"/>
                </a:ext>
              </a:extLst>
            </p:cNvPr>
            <p:cNvSpPr/>
            <p:nvPr/>
          </p:nvSpPr>
          <p:spPr>
            <a:xfrm>
              <a:off x="7635851" y="1298085"/>
              <a:ext cx="3152340" cy="283368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00"/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21CFE9DC-815F-5E08-B2D0-D05521BE05FE}"/>
                </a:ext>
              </a:extLst>
            </p:cNvPr>
            <p:cNvSpPr/>
            <p:nvPr/>
          </p:nvSpPr>
          <p:spPr>
            <a:xfrm>
              <a:off x="8711410" y="2601271"/>
              <a:ext cx="1651871" cy="5221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Validators</a:t>
              </a:r>
              <a:endParaRPr lang="de-DE" dirty="0"/>
            </a:p>
          </p:txBody>
        </p:sp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F2562094-6A24-D3E7-CF1C-F3E7EC940C25}"/>
                </a:ext>
              </a:extLst>
            </p:cNvPr>
            <p:cNvSpPr/>
            <p:nvPr/>
          </p:nvSpPr>
          <p:spPr>
            <a:xfrm>
              <a:off x="8711411" y="3371285"/>
              <a:ext cx="1651871" cy="522141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Models ORM</a:t>
              </a:r>
              <a:endParaRPr lang="ru-RU" dirty="0"/>
            </a:p>
          </p:txBody>
        </p:sp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27E8C01B-CACC-D7AF-0950-1ED055D20903}"/>
                </a:ext>
              </a:extLst>
            </p:cNvPr>
            <p:cNvSpPr/>
            <p:nvPr/>
          </p:nvSpPr>
          <p:spPr>
            <a:xfrm>
              <a:off x="7635851" y="1806921"/>
              <a:ext cx="1651871" cy="52214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view.as_view</a:t>
              </a:r>
              <a:endParaRPr lang="ru-RU" dirty="0"/>
            </a:p>
          </p:txBody>
        </p:sp>
        <p:cxnSp>
          <p:nvCxnSpPr>
            <p:cNvPr id="29" name="Соединитель: уступ 28">
              <a:extLst>
                <a:ext uri="{FF2B5EF4-FFF2-40B4-BE49-F238E27FC236}">
                  <a16:creationId xmlns:a16="http://schemas.microsoft.com/office/drawing/2014/main" id="{0E995DF6-2BED-87FE-DBBD-A1F8D2868D79}"/>
                </a:ext>
              </a:extLst>
            </p:cNvPr>
            <p:cNvCxnSpPr>
              <a:cxnSpLocks/>
              <a:stCxn id="19" idx="3"/>
              <a:endCxn id="10" idx="0"/>
            </p:cNvCxnSpPr>
            <p:nvPr/>
          </p:nvCxnSpPr>
          <p:spPr>
            <a:xfrm>
              <a:off x="9287722" y="2067991"/>
              <a:ext cx="249624" cy="533280"/>
            </a:xfrm>
            <a:prstGeom prst="bentConnector2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D9373759-A124-2079-6011-62B9F1AB5FEA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>
              <a:off x="9537346" y="3123412"/>
              <a:ext cx="1" cy="247873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Дата 2">
            <a:extLst>
              <a:ext uri="{FF2B5EF4-FFF2-40B4-BE49-F238E27FC236}">
                <a16:creationId xmlns:a16="http://schemas.microsoft.com/office/drawing/2014/main" id="{1EF73C33-3CAB-384D-2D33-B26AA1906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EC725-86DD-4E0B-9F75-761AC8B64371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08E21CB-6792-9C05-F921-6AB2DD01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504B21-664F-F709-A9D8-9AEA60CA8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23</a:t>
            </a:fld>
            <a:endParaRPr lang="en-US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F3BE392-004F-A396-D9C1-33DDADE212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61" t="-1" b="-3824"/>
          <a:stretch/>
        </p:blipFill>
        <p:spPr>
          <a:xfrm rot="16446721">
            <a:off x="4158492" y="3913505"/>
            <a:ext cx="2381657" cy="3446399"/>
          </a:xfrm>
          <a:custGeom>
            <a:avLst/>
            <a:gdLst>
              <a:gd name="connsiteX0" fmla="*/ 2167198 w 2568011"/>
              <a:gd name="connsiteY0" fmla="*/ 902708 h 3716065"/>
              <a:gd name="connsiteX1" fmla="*/ 2532016 w 2568011"/>
              <a:gd name="connsiteY1" fmla="*/ 1742536 h 3716065"/>
              <a:gd name="connsiteX2" fmla="*/ 2568011 w 2568011"/>
              <a:gd name="connsiteY2" fmla="*/ 1849483 h 3716065"/>
              <a:gd name="connsiteX3" fmla="*/ 2568011 w 2568011"/>
              <a:gd name="connsiteY3" fmla="*/ 3073150 h 3716065"/>
              <a:gd name="connsiteX4" fmla="*/ 2548222 w 2568011"/>
              <a:gd name="connsiteY4" fmla="*/ 3131602 h 3716065"/>
              <a:gd name="connsiteX5" fmla="*/ 2469841 w 2568011"/>
              <a:gd name="connsiteY5" fmla="*/ 3338688 h 3716065"/>
              <a:gd name="connsiteX6" fmla="*/ 2132703 w 2568011"/>
              <a:gd name="connsiteY6" fmla="*/ 3711632 h 3716065"/>
              <a:gd name="connsiteX7" fmla="*/ 1738824 w 2568011"/>
              <a:gd name="connsiteY7" fmla="*/ 3492975 h 3716065"/>
              <a:gd name="connsiteX8" fmla="*/ 1589971 w 2568011"/>
              <a:gd name="connsiteY8" fmla="*/ 2772693 h 3716065"/>
              <a:gd name="connsiteX9" fmla="*/ 1679146 w 2568011"/>
              <a:gd name="connsiteY9" fmla="*/ 2309506 h 3716065"/>
              <a:gd name="connsiteX10" fmla="*/ 1515726 w 2568011"/>
              <a:gd name="connsiteY10" fmla="*/ 1906760 h 3716065"/>
              <a:gd name="connsiteX11" fmla="*/ 1348207 w 2568011"/>
              <a:gd name="connsiteY11" fmla="*/ 1762310 h 3716065"/>
              <a:gd name="connsiteX12" fmla="*/ 902523 w 2568011"/>
              <a:gd name="connsiteY12" fmla="*/ 1947466 h 3716065"/>
              <a:gd name="connsiteX13" fmla="*/ 546547 w 2568011"/>
              <a:gd name="connsiteY13" fmla="*/ 1777048 h 3716065"/>
              <a:gd name="connsiteX14" fmla="*/ 26885 w 2568011"/>
              <a:gd name="connsiteY14" fmla="*/ 1150078 h 3716065"/>
              <a:gd name="connsiteX15" fmla="*/ 56571 w 2568011"/>
              <a:gd name="connsiteY15" fmla="*/ 66759 h 3716065"/>
              <a:gd name="connsiteX16" fmla="*/ 65565 w 2568011"/>
              <a:gd name="connsiteY16" fmla="*/ 0 h 3716065"/>
              <a:gd name="connsiteX17" fmla="*/ 573996 w 2568011"/>
              <a:gd name="connsiteY17" fmla="*/ 0 h 3716065"/>
              <a:gd name="connsiteX18" fmla="*/ 639889 w 2568011"/>
              <a:gd name="connsiteY18" fmla="*/ 104947 h 3716065"/>
              <a:gd name="connsiteX19" fmla="*/ 884182 w 2568011"/>
              <a:gd name="connsiteY19" fmla="*/ 419424 h 3716065"/>
              <a:gd name="connsiteX20" fmla="*/ 1493153 w 2568011"/>
              <a:gd name="connsiteY20" fmla="*/ 610111 h 3716065"/>
              <a:gd name="connsiteX21" fmla="*/ 1848594 w 2568011"/>
              <a:gd name="connsiteY21" fmla="*/ 672916 h 3716065"/>
              <a:gd name="connsiteX22" fmla="*/ 2167198 w 2568011"/>
              <a:gd name="connsiteY22" fmla="*/ 902708 h 371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568011" h="3716065">
                <a:moveTo>
                  <a:pt x="2167198" y="902708"/>
                </a:moveTo>
                <a:cubicBezTo>
                  <a:pt x="2253789" y="1070988"/>
                  <a:pt x="2412697" y="1411612"/>
                  <a:pt x="2532016" y="1742536"/>
                </a:cubicBezTo>
                <a:lnTo>
                  <a:pt x="2568011" y="1849483"/>
                </a:lnTo>
                <a:lnTo>
                  <a:pt x="2568011" y="3073150"/>
                </a:lnTo>
                <a:lnTo>
                  <a:pt x="2548222" y="3131602"/>
                </a:lnTo>
                <a:cubicBezTo>
                  <a:pt x="2520317" y="3209467"/>
                  <a:pt x="2492639" y="3279386"/>
                  <a:pt x="2469841" y="3338688"/>
                </a:cubicBezTo>
                <a:cubicBezTo>
                  <a:pt x="2378648" y="3575893"/>
                  <a:pt x="2254540" y="3685918"/>
                  <a:pt x="2132703" y="3711632"/>
                </a:cubicBezTo>
                <a:cubicBezTo>
                  <a:pt x="2010867" y="3737347"/>
                  <a:pt x="1829279" y="3649465"/>
                  <a:pt x="1738824" y="3492975"/>
                </a:cubicBezTo>
                <a:cubicBezTo>
                  <a:pt x="1648369" y="3336485"/>
                  <a:pt x="1599918" y="2969938"/>
                  <a:pt x="1589971" y="2772693"/>
                </a:cubicBezTo>
                <a:cubicBezTo>
                  <a:pt x="1580024" y="2575448"/>
                  <a:pt x="1691521" y="2453828"/>
                  <a:pt x="1679146" y="2309506"/>
                </a:cubicBezTo>
                <a:cubicBezTo>
                  <a:pt x="1666772" y="2165183"/>
                  <a:pt x="1570883" y="1997959"/>
                  <a:pt x="1515726" y="1906760"/>
                </a:cubicBezTo>
                <a:cubicBezTo>
                  <a:pt x="1460570" y="1815560"/>
                  <a:pt x="1450407" y="1755526"/>
                  <a:pt x="1348207" y="1762310"/>
                </a:cubicBezTo>
                <a:cubicBezTo>
                  <a:pt x="1246006" y="1769095"/>
                  <a:pt x="1036133" y="1945010"/>
                  <a:pt x="902523" y="1947466"/>
                </a:cubicBezTo>
                <a:cubicBezTo>
                  <a:pt x="768912" y="1949922"/>
                  <a:pt x="692487" y="1909946"/>
                  <a:pt x="546547" y="1777048"/>
                </a:cubicBezTo>
                <a:cubicBezTo>
                  <a:pt x="400608" y="1644150"/>
                  <a:pt x="102061" y="1480621"/>
                  <a:pt x="26885" y="1150078"/>
                </a:cubicBezTo>
                <a:cubicBezTo>
                  <a:pt x="-29497" y="902170"/>
                  <a:pt x="13781" y="406589"/>
                  <a:pt x="56571" y="66759"/>
                </a:cubicBezTo>
                <a:lnTo>
                  <a:pt x="65565" y="0"/>
                </a:lnTo>
                <a:lnTo>
                  <a:pt x="573996" y="0"/>
                </a:lnTo>
                <a:lnTo>
                  <a:pt x="639889" y="104947"/>
                </a:lnTo>
                <a:cubicBezTo>
                  <a:pt x="723526" y="235047"/>
                  <a:pt x="808531" y="354894"/>
                  <a:pt x="884182" y="419424"/>
                </a:cubicBezTo>
                <a:cubicBezTo>
                  <a:pt x="1085916" y="591504"/>
                  <a:pt x="1332418" y="567862"/>
                  <a:pt x="1493153" y="610111"/>
                </a:cubicBezTo>
                <a:cubicBezTo>
                  <a:pt x="1653888" y="652360"/>
                  <a:pt x="1736253" y="624150"/>
                  <a:pt x="1848594" y="672916"/>
                </a:cubicBezTo>
                <a:cubicBezTo>
                  <a:pt x="1960934" y="721682"/>
                  <a:pt x="2028654" y="633461"/>
                  <a:pt x="2167198" y="90270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60903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B3530-03EB-BF03-8B95-168577A3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/>
              <a:t>APIs elements in Django:</a:t>
            </a:r>
            <a:endParaRPr lang="en-US" dirty="0"/>
          </a:p>
        </p:txBody>
      </p:sp>
      <p:sp>
        <p:nvSpPr>
          <p:cNvPr id="58" name="Объект 57">
            <a:extLst>
              <a:ext uri="{FF2B5EF4-FFF2-40B4-BE49-F238E27FC236}">
                <a16:creationId xmlns:a16="http://schemas.microsoft.com/office/drawing/2014/main" id="{DB9D6805-C73B-44A5-4677-C1FEE3A2E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de-DE"/>
              <a:t>Model. refresh_from_db() – to fetch data from DB</a:t>
            </a:r>
          </a:p>
          <a:p>
            <a:endParaRPr lang="de-DE"/>
          </a:p>
          <a:p>
            <a:r>
              <a:rPr lang="de-DE"/>
              <a:t>Model.save() – to save data to DB</a:t>
            </a:r>
          </a:p>
          <a:p>
            <a:endParaRPr lang="en-US"/>
          </a:p>
          <a:p>
            <a:r>
              <a:rPr lang="en-US"/>
              <a:t>Complex DB validation on Model.full_clean()</a:t>
            </a:r>
          </a:p>
          <a:p>
            <a:pPr lvl="1"/>
            <a:r>
              <a:rPr lang="en-US"/>
              <a:t>Model.clean()</a:t>
            </a:r>
          </a:p>
          <a:p>
            <a:pPr lvl="1"/>
            <a:r>
              <a:rPr lang="en-US"/>
              <a:t>Model.validate_unique()</a:t>
            </a:r>
          </a:p>
          <a:p>
            <a:endParaRPr lang="en-US"/>
          </a:p>
          <a:p>
            <a:r>
              <a:rPr lang="en-US"/>
              <a:t>Some methods formally a-sync</a:t>
            </a:r>
          </a:p>
          <a:p>
            <a:pPr marL="0" indent="0">
              <a:buNone/>
            </a:pPr>
            <a:endParaRPr lang="en-US" sz="320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D9ABD20D-5AB0-45EC-299E-FED77EB3AC53}"/>
              </a:ext>
            </a:extLst>
          </p:cNvPr>
          <p:cNvSpPr/>
          <p:nvPr/>
        </p:nvSpPr>
        <p:spPr>
          <a:xfrm>
            <a:off x="9296401" y="2571750"/>
            <a:ext cx="2228850" cy="27051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/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92DFF07F-579B-1FC6-B321-520ADD35CB2B}"/>
              </a:ext>
            </a:extLst>
          </p:cNvPr>
          <p:cNvSpPr/>
          <p:nvPr/>
        </p:nvSpPr>
        <p:spPr>
          <a:xfrm>
            <a:off x="9585770" y="2935136"/>
            <a:ext cx="1651871" cy="5200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Validators</a:t>
            </a:r>
            <a:endParaRPr lang="de-DE" dirty="0"/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A692C657-B820-E118-220E-B52B6012BD92}"/>
              </a:ext>
            </a:extLst>
          </p:cNvPr>
          <p:cNvSpPr/>
          <p:nvPr/>
        </p:nvSpPr>
        <p:spPr>
          <a:xfrm>
            <a:off x="9585770" y="3716292"/>
            <a:ext cx="1651871" cy="5221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Models ORM</a:t>
            </a:r>
            <a:endParaRPr lang="ru-RU" dirty="0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09D8DB5-0A55-CDC7-DACF-E31F9AB1B6D2}"/>
              </a:ext>
            </a:extLst>
          </p:cNvPr>
          <p:cNvSpPr/>
          <p:nvPr/>
        </p:nvSpPr>
        <p:spPr>
          <a:xfrm>
            <a:off x="9585770" y="4438082"/>
            <a:ext cx="1651871" cy="52214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Collect context</a:t>
            </a:r>
            <a:endParaRPr lang="ru-RU" dirty="0"/>
          </a:p>
        </p:txBody>
      </p: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166B5232-D9AE-0CD4-A09B-A8B9F22BEAA8}"/>
              </a:ext>
            </a:extLst>
          </p:cNvPr>
          <p:cNvCxnSpPr>
            <a:cxnSpLocks/>
            <a:endCxn id="44" idx="0"/>
          </p:cNvCxnSpPr>
          <p:nvPr/>
        </p:nvCxnSpPr>
        <p:spPr>
          <a:xfrm rot="16200000" flipH="1">
            <a:off x="10282400" y="2805829"/>
            <a:ext cx="258611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8147D539-3676-6C13-CD9D-6D5CB8CC0EEC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10411706" y="3455221"/>
            <a:ext cx="0" cy="26107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903CA6AF-E211-0C13-659D-253A0A1AF65C}"/>
              </a:ext>
            </a:extLst>
          </p:cNvPr>
          <p:cNvCxnSpPr>
            <a:stCxn id="45" idx="2"/>
            <a:endCxn id="46" idx="0"/>
          </p:cNvCxnSpPr>
          <p:nvPr/>
        </p:nvCxnSpPr>
        <p:spPr>
          <a:xfrm>
            <a:off x="10411705" y="4238433"/>
            <a:ext cx="0" cy="199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D4F0C098-845D-4CD4-0652-BA662FB467D8}"/>
              </a:ext>
            </a:extLst>
          </p:cNvPr>
          <p:cNvCxnSpPr>
            <a:cxnSpLocks/>
            <a:stCxn id="46" idx="2"/>
          </p:cNvCxnSpPr>
          <p:nvPr/>
        </p:nvCxnSpPr>
        <p:spPr>
          <a:xfrm rot="5400000">
            <a:off x="10339116" y="5032813"/>
            <a:ext cx="145180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Дата 2">
            <a:extLst>
              <a:ext uri="{FF2B5EF4-FFF2-40B4-BE49-F238E27FC236}">
                <a16:creationId xmlns:a16="http://schemas.microsoft.com/office/drawing/2014/main" id="{CFC34425-AD73-8C62-9FE0-D9BDEB68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80AB9-1F92-4737-88EF-2AF1474BAFC7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55DC22-656C-F567-F14D-482392F2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6F3E244-3F8D-1676-DB7E-4ADF1C6C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24</a:t>
            </a:fld>
            <a:endParaRPr lang="en-US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A7729E1-4DB2-CEE6-CB74-109F6F75C7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0290155" y="-204795"/>
            <a:ext cx="1894972" cy="222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2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D1407-FD72-B35F-7898-AAFF5325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03D42B-8BB1-AE48-43D1-C75173510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529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 i="1">
              <a:solidFill>
                <a:srgbClr val="66D9E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b="1" i="1">
              <a:solidFill>
                <a:srgbClr val="66D9E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b="1" i="1">
              <a:solidFill>
                <a:srgbClr val="66D9E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b="1" i="1">
              <a:solidFill>
                <a:srgbClr val="66D9E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b="1" i="1">
              <a:solidFill>
                <a:srgbClr val="66D9E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D8226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400" b="1">
                <a:solidFill>
                  <a:srgbClr val="4584B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receiver</a:t>
            </a:r>
            <a:r>
              <a:rPr lang="en-US" sz="2400" b="1" i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(my_signal)</a:t>
            </a:r>
          </a:p>
          <a:p>
            <a:pPr marL="0" indent="0">
              <a:buNone/>
            </a:pPr>
            <a:r>
              <a:rPr lang="en-US" sz="2400" b="1">
                <a:solidFill>
                  <a:srgbClr val="D8226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async </a:t>
            </a:r>
            <a:r>
              <a:rPr lang="en-US" sz="2400" b="1" i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400" b="1">
                <a:solidFill>
                  <a:srgbClr val="98CE2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my_async_receiver</a:t>
            </a:r>
            <a:r>
              <a:rPr lang="en-US" sz="2400" b="1" i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(sender, </a:t>
            </a:r>
            <a:r>
              <a:rPr lang="en-US" sz="2400" b="1">
                <a:solidFill>
                  <a:srgbClr val="AE81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sz="2400" b="1" i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kwargs):</a:t>
            </a:r>
            <a:endParaRPr lang="ru-RU" sz="2400" b="1" i="1">
              <a:solidFill>
                <a:srgbClr val="66D9E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i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2400" b="1">
                <a:solidFill>
                  <a:srgbClr val="D8226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await</a:t>
            </a:r>
            <a:r>
              <a:rPr lang="de-DE" sz="2400" b="1" i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logging.</a:t>
            </a:r>
            <a:r>
              <a:rPr lang="en-US" sz="2400" b="1">
                <a:solidFill>
                  <a:srgbClr val="4584B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ainfo</a:t>
            </a:r>
            <a:r>
              <a:rPr lang="en-US" sz="2400" b="1" i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>
                <a:solidFill>
                  <a:srgbClr val="AE81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400" b="1" i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"{sender} </a:t>
            </a:r>
            <a:r>
              <a:rPr lang="en-US" sz="2400" b="1" i="1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signal received</a:t>
            </a:r>
            <a:r>
              <a:rPr lang="en-US" sz="2400" b="1" i="1">
                <a:solidFill>
                  <a:srgbClr val="66D9E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7E19C2-4E2A-D290-690A-EDCD18A0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6672-7FCE-47AB-9E60-6EF7D2F65CAC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EE9945-7F26-5BCA-DB5E-7AF66D16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E32525-9F72-62ED-5AB9-26D60D14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25</a:t>
            </a:fld>
            <a:endParaRPr lang="en-US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DC6350-C37E-89CA-EF5F-FFD22768F7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528" y="635968"/>
            <a:ext cx="7696198" cy="84264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DA40645-ACA0-2F84-8849-8026F9FA9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32" y="1961531"/>
            <a:ext cx="11117336" cy="162388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25CE919-BFE0-F58F-3574-EB9DDFB8605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71746" y="4575944"/>
            <a:ext cx="1239254" cy="178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B3530-03EB-BF03-8B95-168577A3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/>
              <a:t>APIs elements in Django:</a:t>
            </a:r>
            <a:endParaRPr lang="en-US" dirty="0"/>
          </a:p>
        </p:txBody>
      </p:sp>
      <p:sp>
        <p:nvSpPr>
          <p:cNvPr id="58" name="Объект 57">
            <a:extLst>
              <a:ext uri="{FF2B5EF4-FFF2-40B4-BE49-F238E27FC236}">
                <a16:creationId xmlns:a16="http://schemas.microsoft.com/office/drawing/2014/main" id="{DB9D6805-C73B-44A5-4677-C1FEE3A2E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Weakest part in GCBV, not designed to be async</a:t>
            </a:r>
          </a:p>
          <a:p>
            <a:endParaRPr lang="en-US"/>
          </a:p>
          <a:p>
            <a:r>
              <a:rPr lang="en-US"/>
              <a:t>Designed to perform final business logic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de-DE"/>
          </a:p>
          <a:p>
            <a:pPr marL="0" indent="0">
              <a:buNone/>
            </a:pPr>
            <a:endParaRPr lang="en-US" sz="320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508E119D-E1B9-E86A-9691-2E9DB0802A88}"/>
              </a:ext>
            </a:extLst>
          </p:cNvPr>
          <p:cNvSpPr/>
          <p:nvPr/>
        </p:nvSpPr>
        <p:spPr>
          <a:xfrm>
            <a:off x="8217568" y="3260558"/>
            <a:ext cx="3435457" cy="285635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EFE13525-6BB6-291C-62EE-9929DE2400BA}"/>
              </a:ext>
            </a:extLst>
          </p:cNvPr>
          <p:cNvSpPr/>
          <p:nvPr/>
        </p:nvSpPr>
        <p:spPr>
          <a:xfrm>
            <a:off x="9585770" y="3716292"/>
            <a:ext cx="1651871" cy="52214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Models ORM</a:t>
            </a:r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EB5AE14-DDCC-3E5C-EE8C-ADA5B9B8F537}"/>
              </a:ext>
            </a:extLst>
          </p:cNvPr>
          <p:cNvSpPr/>
          <p:nvPr/>
        </p:nvSpPr>
        <p:spPr>
          <a:xfrm>
            <a:off x="9585770" y="4438082"/>
            <a:ext cx="1651871" cy="5221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Collect context</a:t>
            </a:r>
            <a:endParaRPr lang="ru-RU" dirty="0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EFD176DB-DD89-7EB6-086E-96FD643049B4}"/>
              </a:ext>
            </a:extLst>
          </p:cNvPr>
          <p:cNvSpPr/>
          <p:nvPr/>
        </p:nvSpPr>
        <p:spPr>
          <a:xfrm>
            <a:off x="8500685" y="5159872"/>
            <a:ext cx="1651871" cy="5221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serializers</a:t>
            </a:r>
            <a:endParaRPr lang="ru-RU" dirty="0"/>
          </a:p>
        </p:txBody>
      </p: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F9CB8AA2-8E2F-2C9D-E88F-E0FADBEE3272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10411706" y="3455221"/>
            <a:ext cx="0" cy="26107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D001258B-77B4-E34E-B423-8F38ED64BF7C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10411705" y="4238433"/>
            <a:ext cx="0" cy="19965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64C926B9-83A7-5F13-9CCE-7B3DDB5B847E}"/>
              </a:ext>
            </a:extLst>
          </p:cNvPr>
          <p:cNvCxnSpPr>
            <a:stCxn id="37" idx="2"/>
            <a:endCxn id="38" idx="3"/>
          </p:cNvCxnSpPr>
          <p:nvPr/>
        </p:nvCxnSpPr>
        <p:spPr>
          <a:xfrm rot="5400000">
            <a:off x="10051770" y="5061008"/>
            <a:ext cx="460720" cy="2591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E4345157-A068-3BD3-2332-EE562AC1B331}"/>
              </a:ext>
            </a:extLst>
          </p:cNvPr>
          <p:cNvCxnSpPr>
            <a:cxnSpLocks/>
            <a:stCxn id="38" idx="1"/>
          </p:cNvCxnSpPr>
          <p:nvPr/>
        </p:nvCxnSpPr>
        <p:spPr>
          <a:xfrm flipH="1" flipV="1">
            <a:off x="8327918" y="5420942"/>
            <a:ext cx="172767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Дата 2">
            <a:extLst>
              <a:ext uri="{FF2B5EF4-FFF2-40B4-BE49-F238E27FC236}">
                <a16:creationId xmlns:a16="http://schemas.microsoft.com/office/drawing/2014/main" id="{4F4720C7-5153-7CB9-0126-88AFDBF3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A48D7-F8E9-4196-A49A-8C23CF4BB5E6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CCFB6D-DDA2-068B-0994-A800F9B72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16F0E67-EE41-BEB7-E631-743614A2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26</a:t>
            </a:fld>
            <a:endParaRPr lang="en-US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7F66D02-4E80-2D80-8782-B74A0AE05D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93059" y="4964330"/>
            <a:ext cx="1503948" cy="228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87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B3530-03EB-BF03-8B95-168577A3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/>
              <a:t>APIs elements in Django:</a:t>
            </a:r>
            <a:endParaRPr lang="en-US" dirty="0"/>
          </a:p>
        </p:txBody>
      </p:sp>
      <p:sp>
        <p:nvSpPr>
          <p:cNvPr id="58" name="Объект 57">
            <a:extLst>
              <a:ext uri="{FF2B5EF4-FFF2-40B4-BE49-F238E27FC236}">
                <a16:creationId xmlns:a16="http://schemas.microsoft.com/office/drawing/2014/main" id="{DB9D6805-C73B-44A5-4677-C1FEE3A2E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Django.core.serializer as a result serializer, (improvements in </a:t>
            </a:r>
            <a:r>
              <a:rPr lang="en-US">
                <a:solidFill>
                  <a:srgbClr val="0C4B33"/>
                </a:solidFill>
                <a:latin typeface="DTLProkyonSTMedium" panose="02000000000000000000" pitchFamily="50" charset="0"/>
              </a:rPr>
              <a:t>Dj5.2</a:t>
            </a:r>
            <a:r>
              <a:rPr lang="en-US"/>
              <a:t>)</a:t>
            </a:r>
          </a:p>
          <a:p>
            <a:endParaRPr lang="en-US"/>
          </a:p>
          <a:p>
            <a:r>
              <a:rPr lang="en-US"/>
              <a:t>Knows, how to serialize specific data.</a:t>
            </a:r>
          </a:p>
          <a:p>
            <a:endParaRPr lang="en-US"/>
          </a:p>
          <a:p>
            <a:r>
              <a:rPr lang="en-US"/>
              <a:t>Should not perform data validation</a:t>
            </a:r>
          </a:p>
          <a:p>
            <a:endParaRPr lang="en-US"/>
          </a:p>
          <a:p>
            <a:r>
              <a:rPr lang="en-US"/>
              <a:t>Not designed to be async!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de-DE"/>
          </a:p>
          <a:p>
            <a:pPr marL="0" indent="0">
              <a:buNone/>
            </a:pPr>
            <a:endParaRPr lang="en-US" sz="320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026B610-9E52-8B85-4802-0B07F54F5146}"/>
              </a:ext>
            </a:extLst>
          </p:cNvPr>
          <p:cNvSpPr/>
          <p:nvPr/>
        </p:nvSpPr>
        <p:spPr>
          <a:xfrm>
            <a:off x="6303881" y="4042611"/>
            <a:ext cx="5349144" cy="207429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80FEFA9-6F74-2549-9BA9-9A554DBB736D}"/>
              </a:ext>
            </a:extLst>
          </p:cNvPr>
          <p:cNvSpPr/>
          <p:nvPr/>
        </p:nvSpPr>
        <p:spPr>
          <a:xfrm>
            <a:off x="9585770" y="4438082"/>
            <a:ext cx="1651871" cy="52214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Collect context</a:t>
            </a:r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27EE1F8-F777-F6D5-58D1-FC218F687087}"/>
              </a:ext>
            </a:extLst>
          </p:cNvPr>
          <p:cNvSpPr/>
          <p:nvPr/>
        </p:nvSpPr>
        <p:spPr>
          <a:xfrm>
            <a:off x="8500685" y="5159872"/>
            <a:ext cx="1651871" cy="5221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serializers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5BB332E-950D-CA62-5674-714152D7E4B7}"/>
              </a:ext>
            </a:extLst>
          </p:cNvPr>
          <p:cNvSpPr/>
          <p:nvPr/>
        </p:nvSpPr>
        <p:spPr>
          <a:xfrm>
            <a:off x="6676047" y="5159872"/>
            <a:ext cx="1651871" cy="5221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/>
              <a:t>render</a:t>
            </a:r>
            <a:r>
              <a:rPr lang="de-DE"/>
              <a:t> to </a:t>
            </a:r>
            <a:r>
              <a:rPr lang="de-DE" dirty="0" err="1"/>
              <a:t>response</a:t>
            </a:r>
            <a:endParaRPr lang="ru-RU" dirty="0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C2291A23-D212-96D8-1C60-869D1B1B2F87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0411705" y="4238433"/>
            <a:ext cx="0" cy="19965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DEE8BF3A-F6C8-0AB1-AA6E-A29BA1458493}"/>
              </a:ext>
            </a:extLst>
          </p:cNvPr>
          <p:cNvCxnSpPr>
            <a:stCxn id="10" idx="2"/>
            <a:endCxn id="11" idx="3"/>
          </p:cNvCxnSpPr>
          <p:nvPr/>
        </p:nvCxnSpPr>
        <p:spPr>
          <a:xfrm rot="5400000">
            <a:off x="10051770" y="5061008"/>
            <a:ext cx="460720" cy="259149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7347498D-6F20-71C6-8746-BB65712E9784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 flipV="1">
            <a:off x="8327918" y="5420942"/>
            <a:ext cx="17276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F4935502-1CA8-659C-DF2C-C816EBFF315B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6503280" y="5420942"/>
            <a:ext cx="172767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Дата 2">
            <a:extLst>
              <a:ext uri="{FF2B5EF4-FFF2-40B4-BE49-F238E27FC236}">
                <a16:creationId xmlns:a16="http://schemas.microsoft.com/office/drawing/2014/main" id="{79C1756B-BEF2-F500-FFFF-F20044E22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16E6-24DE-4F10-805B-659D80359392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6A4B01-D705-9078-E403-13751E1A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D51DDC-53A0-F477-AA06-E758CF39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27</a:t>
            </a:fld>
            <a:endParaRPr lang="en-US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8764313-3004-B0E9-9D1F-41EEF03C202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756460">
            <a:off x="10328398" y="851048"/>
            <a:ext cx="1271364" cy="116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68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E43F5-A8ED-FDC6-D67F-8FC04618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APIs elements in Django: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E27BC8-2CD4-0213-5D5E-726AE8A8D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JsonResponse / HttpResponse class for response.</a:t>
            </a:r>
          </a:p>
          <a:p>
            <a:endParaRPr lang="en-US"/>
          </a:p>
          <a:p>
            <a:r>
              <a:rPr lang="en-US"/>
              <a:t>StreamingHttpResponse for partially prepeared data (async)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521E24C-A500-7966-3BA0-186FEEA34561}"/>
              </a:ext>
            </a:extLst>
          </p:cNvPr>
          <p:cNvSpPr/>
          <p:nvPr/>
        </p:nvSpPr>
        <p:spPr>
          <a:xfrm>
            <a:off x="3869474" y="4791347"/>
            <a:ext cx="7783551" cy="132556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A216EE0-6659-2709-FBE8-3D4ECAFA5925}"/>
              </a:ext>
            </a:extLst>
          </p:cNvPr>
          <p:cNvSpPr/>
          <p:nvPr/>
        </p:nvSpPr>
        <p:spPr>
          <a:xfrm>
            <a:off x="8500685" y="5159872"/>
            <a:ext cx="1651871" cy="52214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serializers</a:t>
            </a:r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7ACFBCD-7017-CC52-11A4-A55F94DD74B0}"/>
              </a:ext>
            </a:extLst>
          </p:cNvPr>
          <p:cNvSpPr/>
          <p:nvPr/>
        </p:nvSpPr>
        <p:spPr>
          <a:xfrm>
            <a:off x="6676047" y="5159872"/>
            <a:ext cx="1651871" cy="522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/>
              <a:t>render</a:t>
            </a:r>
            <a:r>
              <a:rPr lang="de-DE"/>
              <a:t> to </a:t>
            </a:r>
            <a:r>
              <a:rPr lang="de-DE" dirty="0" err="1"/>
              <a:t>response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6632B-5F3D-1EC2-E621-D3031015B29A}"/>
              </a:ext>
            </a:extLst>
          </p:cNvPr>
          <p:cNvSpPr/>
          <p:nvPr/>
        </p:nvSpPr>
        <p:spPr>
          <a:xfrm>
            <a:off x="4851409" y="5159872"/>
            <a:ext cx="1651871" cy="5221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middleware</a:t>
            </a:r>
            <a:endParaRPr lang="ru-RU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AAC18080-660D-5A70-F866-208A3D4ABF87}"/>
              </a:ext>
            </a:extLst>
          </p:cNvPr>
          <p:cNvCxnSpPr>
            <a:cxnSpLocks/>
            <a:endCxn id="6" idx="1"/>
          </p:cNvCxnSpPr>
          <p:nvPr/>
        </p:nvCxnSpPr>
        <p:spPr>
          <a:xfrm flipH="1">
            <a:off x="3869474" y="5420942"/>
            <a:ext cx="981935" cy="3318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Соединитель: уступ 26">
            <a:extLst>
              <a:ext uri="{FF2B5EF4-FFF2-40B4-BE49-F238E27FC236}">
                <a16:creationId xmlns:a16="http://schemas.microsoft.com/office/drawing/2014/main" id="{44BE807F-231A-87F5-9E87-FDA8C5933815}"/>
              </a:ext>
            </a:extLst>
          </p:cNvPr>
          <p:cNvCxnSpPr>
            <a:cxnSpLocks/>
            <a:endCxn id="12" idx="3"/>
          </p:cNvCxnSpPr>
          <p:nvPr/>
        </p:nvCxnSpPr>
        <p:spPr>
          <a:xfrm rot="5400000">
            <a:off x="10051770" y="5061008"/>
            <a:ext cx="460720" cy="259149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7B45D492-320B-A565-A336-AAB05E9CA7D8}"/>
              </a:ext>
            </a:extLst>
          </p:cNvPr>
          <p:cNvCxnSpPr>
            <a:stCxn id="12" idx="1"/>
            <a:endCxn id="13" idx="3"/>
          </p:cNvCxnSpPr>
          <p:nvPr/>
        </p:nvCxnSpPr>
        <p:spPr>
          <a:xfrm flipH="1" flipV="1">
            <a:off x="8327918" y="5420942"/>
            <a:ext cx="172767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F7E1E86A-1045-C113-7A9F-3B6DD330E465}"/>
              </a:ext>
            </a:extLst>
          </p:cNvPr>
          <p:cNvCxnSpPr>
            <a:stCxn id="13" idx="1"/>
            <a:endCxn id="17" idx="3"/>
          </p:cNvCxnSpPr>
          <p:nvPr/>
        </p:nvCxnSpPr>
        <p:spPr>
          <a:xfrm flipH="1">
            <a:off x="6503280" y="5420942"/>
            <a:ext cx="172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>
            <a:extLst>
              <a:ext uri="{FF2B5EF4-FFF2-40B4-BE49-F238E27FC236}">
                <a16:creationId xmlns:a16="http://schemas.microsoft.com/office/drawing/2014/main" id="{BAD38B14-1AC4-59AB-7753-C6D8639A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2AFF-5797-4482-AAA0-B8BC5D372C22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30A7C8-4E31-4A2F-A7EB-BB959CFA9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DDD146-6E35-D258-F6AC-3472672A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28</a:t>
            </a:fld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148EAF2-402E-EA67-E1FE-F7F3805860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248" y="4900702"/>
            <a:ext cx="2039488" cy="182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266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E43F5-A8ED-FDC6-D67F-8FC04618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APIs elements in Django: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E27BC8-2CD4-0213-5D5E-726AE8A8D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pPr marL="0" indent="0">
              <a:buNone/>
            </a:pPr>
            <a:r>
              <a:rPr lang="en-US"/>
              <a:t>Last </a:t>
            </a:r>
            <a:r>
              <a:rPr lang="de-DE"/>
              <a:t>middleware in Django „</a:t>
            </a:r>
            <a:r>
              <a:rPr lang="en-US"/>
              <a:t>convert_exception_to_response”.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To serialize Exception from Django.core.exceptions in Response.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521E24C-A500-7966-3BA0-186FEEA34561}"/>
              </a:ext>
            </a:extLst>
          </p:cNvPr>
          <p:cNvSpPr/>
          <p:nvPr/>
        </p:nvSpPr>
        <p:spPr>
          <a:xfrm>
            <a:off x="3869474" y="4791347"/>
            <a:ext cx="4631211" cy="132556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7ACFBCD-7017-CC52-11A4-A55F94DD74B0}"/>
              </a:ext>
            </a:extLst>
          </p:cNvPr>
          <p:cNvSpPr/>
          <p:nvPr/>
        </p:nvSpPr>
        <p:spPr>
          <a:xfrm>
            <a:off x="6676047" y="5159872"/>
            <a:ext cx="1651871" cy="5221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/>
              <a:t>render</a:t>
            </a:r>
            <a:r>
              <a:rPr lang="de-DE"/>
              <a:t> to </a:t>
            </a:r>
            <a:r>
              <a:rPr lang="de-DE" dirty="0" err="1"/>
              <a:t>response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6632B-5F3D-1EC2-E621-D3031015B29A}"/>
              </a:ext>
            </a:extLst>
          </p:cNvPr>
          <p:cNvSpPr/>
          <p:nvPr/>
        </p:nvSpPr>
        <p:spPr>
          <a:xfrm>
            <a:off x="4851409" y="5159872"/>
            <a:ext cx="1651871" cy="522140"/>
          </a:xfrm>
          <a:prstGeom prst="roundRect">
            <a:avLst/>
          </a:prstGeom>
          <a:solidFill>
            <a:srgbClr val="4472C4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middleware</a:t>
            </a:r>
            <a:endParaRPr lang="ru-RU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AAC18080-660D-5A70-F866-208A3D4ABF87}"/>
              </a:ext>
            </a:extLst>
          </p:cNvPr>
          <p:cNvCxnSpPr>
            <a:cxnSpLocks/>
          </p:cNvCxnSpPr>
          <p:nvPr/>
        </p:nvCxnSpPr>
        <p:spPr>
          <a:xfrm flipH="1" flipV="1">
            <a:off x="3869474" y="5281863"/>
            <a:ext cx="981935" cy="139079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7B45D492-320B-A565-A336-AAB05E9CA7D8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8327918" y="5420942"/>
            <a:ext cx="172767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F7E1E86A-1045-C113-7A9F-3B6DD330E465}"/>
              </a:ext>
            </a:extLst>
          </p:cNvPr>
          <p:cNvCxnSpPr>
            <a:stCxn id="13" idx="1"/>
            <a:endCxn id="17" idx="3"/>
          </p:cNvCxnSpPr>
          <p:nvPr/>
        </p:nvCxnSpPr>
        <p:spPr>
          <a:xfrm flipH="1">
            <a:off x="6503280" y="5420942"/>
            <a:ext cx="172767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>
            <a:extLst>
              <a:ext uri="{FF2B5EF4-FFF2-40B4-BE49-F238E27FC236}">
                <a16:creationId xmlns:a16="http://schemas.microsoft.com/office/drawing/2014/main" id="{BE9E8B33-272F-5F21-82FD-C7211E60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C602-ECA5-43AC-AD2F-9A587BA53EAB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FA7EBA-9624-F1C4-D31B-8FD8BEAA3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27BCD8-40DC-4E16-D1FC-D7EFD7B7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29</a:t>
            </a:fld>
            <a:endParaRPr lang="en-US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9AE8864-DCD9-0B93-3A34-E897AD27C0C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5810" y="5102912"/>
            <a:ext cx="3207224" cy="17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7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38916044-6C5B-1E68-9BBD-3ED2FD4EF45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-86520" y="2050601"/>
            <a:ext cx="2435077" cy="3697896"/>
          </a:xfrm>
          <a:custGeom>
            <a:avLst/>
            <a:gdLst>
              <a:gd name="connsiteX0" fmla="*/ 859058 w 1742173"/>
              <a:gd name="connsiteY0" fmla="*/ 760 h 2645655"/>
              <a:gd name="connsiteX1" fmla="*/ 585339 w 1742173"/>
              <a:gd name="connsiteY1" fmla="*/ 55654 h 2645655"/>
              <a:gd name="connsiteX2" fmla="*/ 31887 w 1742173"/>
              <a:gd name="connsiteY2" fmla="*/ 585044 h 2645655"/>
              <a:gd name="connsiteX3" fmla="*/ 116108 w 1742173"/>
              <a:gd name="connsiteY3" fmla="*/ 1054275 h 2645655"/>
              <a:gd name="connsiteX4" fmla="*/ 525181 w 1742173"/>
              <a:gd name="connsiteY4" fmla="*/ 1150528 h 2645655"/>
              <a:gd name="connsiteX5" fmla="*/ 597371 w 1742173"/>
              <a:gd name="connsiteY5" fmla="*/ 1403191 h 2645655"/>
              <a:gd name="connsiteX6" fmla="*/ 645497 w 1742173"/>
              <a:gd name="connsiteY6" fmla="*/ 1944612 h 2645655"/>
              <a:gd name="connsiteX7" fmla="*/ 705655 w 1742173"/>
              <a:gd name="connsiteY7" fmla="*/ 2546191 h 2645655"/>
              <a:gd name="connsiteX8" fmla="*/ 720789 w 1742173"/>
              <a:gd name="connsiteY8" fmla="*/ 2616501 h 2645655"/>
              <a:gd name="connsiteX9" fmla="*/ 730933 w 1742173"/>
              <a:gd name="connsiteY9" fmla="*/ 2645655 h 2645655"/>
              <a:gd name="connsiteX10" fmla="*/ 1367435 w 1742173"/>
              <a:gd name="connsiteY10" fmla="*/ 2645655 h 2645655"/>
              <a:gd name="connsiteX11" fmla="*/ 1403487 w 1742173"/>
              <a:gd name="connsiteY11" fmla="*/ 2630412 h 2645655"/>
              <a:gd name="connsiteX12" fmla="*/ 1391455 w 1742173"/>
              <a:gd name="connsiteY12" fmla="*/ 2317591 h 2645655"/>
              <a:gd name="connsiteX13" fmla="*/ 1259108 w 1742173"/>
              <a:gd name="connsiteY13" fmla="*/ 1667886 h 2645655"/>
              <a:gd name="connsiteX14" fmla="*/ 1608024 w 1742173"/>
              <a:gd name="connsiteY14" fmla="*/ 1547570 h 2645655"/>
              <a:gd name="connsiteX15" fmla="*/ 1740371 w 1742173"/>
              <a:gd name="connsiteY15" fmla="*/ 1415222 h 2645655"/>
              <a:gd name="connsiteX16" fmla="*/ 1523803 w 1742173"/>
              <a:gd name="connsiteY16" fmla="*/ 621138 h 2645655"/>
              <a:gd name="connsiteX17" fmla="*/ 1114729 w 1742173"/>
              <a:gd name="connsiteY17" fmla="*/ 79717 h 2645655"/>
              <a:gd name="connsiteX18" fmla="*/ 859058 w 1742173"/>
              <a:gd name="connsiteY18" fmla="*/ 760 h 2645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42173" h="2645655">
                <a:moveTo>
                  <a:pt x="859058" y="760"/>
                </a:moveTo>
                <a:cubicBezTo>
                  <a:pt x="768821" y="-4002"/>
                  <a:pt x="675576" y="13544"/>
                  <a:pt x="585339" y="55654"/>
                </a:cubicBezTo>
                <a:cubicBezTo>
                  <a:pt x="404865" y="139875"/>
                  <a:pt x="110092" y="418607"/>
                  <a:pt x="31887" y="585044"/>
                </a:cubicBezTo>
                <a:cubicBezTo>
                  <a:pt x="-46318" y="751481"/>
                  <a:pt x="33892" y="960028"/>
                  <a:pt x="116108" y="1054275"/>
                </a:cubicBezTo>
                <a:cubicBezTo>
                  <a:pt x="198324" y="1148522"/>
                  <a:pt x="444971" y="1092375"/>
                  <a:pt x="525181" y="1150528"/>
                </a:cubicBezTo>
                <a:cubicBezTo>
                  <a:pt x="605391" y="1208681"/>
                  <a:pt x="577318" y="1270844"/>
                  <a:pt x="597371" y="1403191"/>
                </a:cubicBezTo>
                <a:cubicBezTo>
                  <a:pt x="617424" y="1535538"/>
                  <a:pt x="627450" y="1754112"/>
                  <a:pt x="645497" y="1944612"/>
                </a:cubicBezTo>
                <a:cubicBezTo>
                  <a:pt x="663544" y="2135112"/>
                  <a:pt x="675576" y="2423870"/>
                  <a:pt x="705655" y="2546191"/>
                </a:cubicBezTo>
                <a:cubicBezTo>
                  <a:pt x="713175" y="2576772"/>
                  <a:pt x="717185" y="2599456"/>
                  <a:pt x="720789" y="2616501"/>
                </a:cubicBezTo>
                <a:lnTo>
                  <a:pt x="730933" y="2645655"/>
                </a:lnTo>
                <a:lnTo>
                  <a:pt x="1367435" y="2645655"/>
                </a:lnTo>
                <a:lnTo>
                  <a:pt x="1403487" y="2630412"/>
                </a:lnTo>
                <a:cubicBezTo>
                  <a:pt x="1497734" y="2570254"/>
                  <a:pt x="1415518" y="2478012"/>
                  <a:pt x="1391455" y="2317591"/>
                </a:cubicBezTo>
                <a:cubicBezTo>
                  <a:pt x="1367392" y="2157170"/>
                  <a:pt x="1223013" y="1796223"/>
                  <a:pt x="1259108" y="1667886"/>
                </a:cubicBezTo>
                <a:cubicBezTo>
                  <a:pt x="1295203" y="1539549"/>
                  <a:pt x="1531824" y="1591686"/>
                  <a:pt x="1608024" y="1547570"/>
                </a:cubicBezTo>
                <a:cubicBezTo>
                  <a:pt x="1684224" y="1503454"/>
                  <a:pt x="1754408" y="1569627"/>
                  <a:pt x="1740371" y="1415222"/>
                </a:cubicBezTo>
                <a:cubicBezTo>
                  <a:pt x="1726334" y="1260817"/>
                  <a:pt x="1628077" y="843722"/>
                  <a:pt x="1523803" y="621138"/>
                </a:cubicBezTo>
                <a:cubicBezTo>
                  <a:pt x="1419529" y="398554"/>
                  <a:pt x="1271140" y="173964"/>
                  <a:pt x="1114729" y="79717"/>
                </a:cubicBezTo>
                <a:cubicBezTo>
                  <a:pt x="1036524" y="32594"/>
                  <a:pt x="949295" y="5523"/>
                  <a:pt x="859058" y="760"/>
                </a:cubicBezTo>
                <a:close/>
              </a:path>
            </a:pathLst>
          </a:custGeom>
        </p:spPr>
      </p:pic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25C7221-5CBE-6253-F40A-42876D1CC52B}"/>
              </a:ext>
            </a:extLst>
          </p:cNvPr>
          <p:cNvGrpSpPr/>
          <p:nvPr/>
        </p:nvGrpSpPr>
        <p:grpSpPr>
          <a:xfrm>
            <a:off x="2268643" y="1630946"/>
            <a:ext cx="9384383" cy="4485964"/>
            <a:chOff x="1175823" y="1825625"/>
            <a:chExt cx="9384383" cy="4485964"/>
          </a:xfrm>
        </p:grpSpPr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E6DC55B6-A1AA-5141-45BF-AECDA2730A11}"/>
                </a:ext>
              </a:extLst>
            </p:cNvPr>
            <p:cNvSpPr/>
            <p:nvPr/>
          </p:nvSpPr>
          <p:spPr>
            <a:xfrm>
              <a:off x="1175823" y="1825625"/>
              <a:ext cx="7783551" cy="447481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8E4663AA-C3E3-2487-65F9-82488E5887AB}"/>
                </a:ext>
              </a:extLst>
            </p:cNvPr>
            <p:cNvSpPr/>
            <p:nvPr/>
          </p:nvSpPr>
          <p:spPr>
            <a:xfrm>
              <a:off x="1975234" y="1836776"/>
              <a:ext cx="8584972" cy="447481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>
                  <a:ln>
                    <a:solidFill>
                      <a:srgbClr val="002060"/>
                    </a:solidFill>
                  </a:ln>
                  <a:solidFill>
                    <a:srgbClr val="0C4B33"/>
                  </a:solidFill>
                  <a:latin typeface="DTLProkyonSTMedium" panose="02000000000000000000" pitchFamily="50" charset="0"/>
                </a:rPr>
                <a:t>Django</a:t>
              </a:r>
            </a:p>
          </p:txBody>
        </p:sp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E0787487-6841-E0A7-AA5B-AB084BB20B87}"/>
                </a:ext>
              </a:extLst>
            </p:cNvPr>
            <p:cNvSpPr/>
            <p:nvPr/>
          </p:nvSpPr>
          <p:spPr>
            <a:xfrm>
              <a:off x="3758589" y="2341723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middleware</a:t>
              </a:r>
              <a:endParaRPr lang="ru-RU" dirty="0"/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8491BB61-45A8-AAAD-A808-5B54C06C0368}"/>
                </a:ext>
              </a:extLst>
            </p:cNvPr>
            <p:cNvSpPr/>
            <p:nvPr/>
          </p:nvSpPr>
          <p:spPr>
            <a:xfrm>
              <a:off x="5583227" y="2345612"/>
              <a:ext cx="1651871" cy="522140"/>
            </a:xfrm>
            <a:prstGeom prst="roundRect">
              <a:avLst/>
            </a:prstGeom>
            <a:solidFill>
              <a:srgbClr val="FFC7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2060"/>
                    </a:solidFill>
                  </a:ln>
                </a:rPr>
                <a:t>url</a:t>
              </a:r>
              <a:r>
                <a:rPr lang="de-DE" dirty="0">
                  <a:ln>
                    <a:solidFill>
                      <a:srgbClr val="002060"/>
                    </a:solidFill>
                  </a:ln>
                </a:rPr>
                <a:t>-dispatcher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892BC470-3081-8C41-D820-C2CAB7F02039}"/>
                </a:ext>
              </a:extLst>
            </p:cNvPr>
            <p:cNvSpPr/>
            <p:nvPr/>
          </p:nvSpPr>
          <p:spPr>
            <a:xfrm>
              <a:off x="8492950" y="3129815"/>
              <a:ext cx="1651871" cy="520085"/>
            </a:xfrm>
            <a:prstGeom prst="roundRect">
              <a:avLst/>
            </a:prstGeom>
            <a:solidFill>
              <a:srgbClr val="FFA7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rgbClr val="002060"/>
                    </a:solidFill>
                  </a:ln>
                </a:rPr>
                <a:t>Validators</a:t>
              </a:r>
              <a:endParaRPr lang="de-DE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47" name="Прямоугольник: скругленные углы 46">
              <a:extLst>
                <a:ext uri="{FF2B5EF4-FFF2-40B4-BE49-F238E27FC236}">
                  <a16:creationId xmlns:a16="http://schemas.microsoft.com/office/drawing/2014/main" id="{75F471AB-5471-17B9-CE5C-BB9032483416}"/>
                </a:ext>
              </a:extLst>
            </p:cNvPr>
            <p:cNvSpPr/>
            <p:nvPr/>
          </p:nvSpPr>
          <p:spPr>
            <a:xfrm>
              <a:off x="8492950" y="3910971"/>
              <a:ext cx="1651871" cy="522141"/>
            </a:xfrm>
            <a:prstGeom prst="roundRect">
              <a:avLst/>
            </a:prstGeom>
            <a:solidFill>
              <a:srgbClr val="FFA7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n>
                    <a:solidFill>
                      <a:srgbClr val="002060"/>
                    </a:solidFill>
                  </a:ln>
                </a:rPr>
                <a:t>Models ORM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C756C735-8A1D-EFEE-FD42-DE0D500E56CA}"/>
                </a:ext>
              </a:extLst>
            </p:cNvPr>
            <p:cNvSpPr/>
            <p:nvPr/>
          </p:nvSpPr>
          <p:spPr>
            <a:xfrm>
              <a:off x="8492950" y="4632761"/>
              <a:ext cx="1651871" cy="522141"/>
            </a:xfrm>
            <a:prstGeom prst="roundRect">
              <a:avLst/>
            </a:prstGeom>
            <a:solidFill>
              <a:srgbClr val="FFA7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rgbClr val="002060"/>
                    </a:solidFill>
                  </a:ln>
                </a:rPr>
                <a:t>Collect context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7BCD2F07-1283-C6DD-EF90-1A525C70E69C}"/>
                </a:ext>
              </a:extLst>
            </p:cNvPr>
            <p:cNvSpPr/>
            <p:nvPr/>
          </p:nvSpPr>
          <p:spPr>
            <a:xfrm>
              <a:off x="7407865" y="5354551"/>
              <a:ext cx="1651871" cy="522142"/>
            </a:xfrm>
            <a:prstGeom prst="roundRect">
              <a:avLst/>
            </a:prstGeom>
            <a:solidFill>
              <a:srgbClr val="FFA7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>
                    <a:solidFill>
                      <a:srgbClr val="002060"/>
                    </a:solidFill>
                  </a:ln>
                </a:rPr>
                <a:t>serializers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24342F96-263C-981F-DDE6-AE50A342398E}"/>
                </a:ext>
              </a:extLst>
            </p:cNvPr>
            <p:cNvSpPr/>
            <p:nvPr/>
          </p:nvSpPr>
          <p:spPr>
            <a:xfrm>
              <a:off x="5583227" y="5354551"/>
              <a:ext cx="1651871" cy="522140"/>
            </a:xfrm>
            <a:prstGeom prst="roundRect">
              <a:avLst/>
            </a:prstGeom>
            <a:solidFill>
              <a:srgbClr val="EAB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err="1">
                  <a:ln>
                    <a:solidFill>
                      <a:srgbClr val="002060"/>
                    </a:solidFill>
                  </a:ln>
                </a:rPr>
                <a:t>render</a:t>
              </a:r>
              <a:r>
                <a:rPr lang="de-DE">
                  <a:ln>
                    <a:solidFill>
                      <a:srgbClr val="002060"/>
                    </a:solidFill>
                  </a:ln>
                </a:rPr>
                <a:t> to </a:t>
              </a:r>
              <a:r>
                <a:rPr lang="de-DE" dirty="0" err="1">
                  <a:ln>
                    <a:solidFill>
                      <a:srgbClr val="002060"/>
                    </a:solidFill>
                  </a:ln>
                </a:rPr>
                <a:t>response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51" name="Прямоугольник: скругленные углы 50">
              <a:extLst>
                <a:ext uri="{FF2B5EF4-FFF2-40B4-BE49-F238E27FC236}">
                  <a16:creationId xmlns:a16="http://schemas.microsoft.com/office/drawing/2014/main" id="{9BC5E3F0-B5DF-11D2-4E5D-AF5EE154FD8D}"/>
                </a:ext>
              </a:extLst>
            </p:cNvPr>
            <p:cNvSpPr/>
            <p:nvPr/>
          </p:nvSpPr>
          <p:spPr>
            <a:xfrm>
              <a:off x="3671181" y="2222727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middleware</a:t>
              </a:r>
              <a:endParaRPr lang="ru-RU" dirty="0"/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109EFFA6-CEF0-A6A1-4BC5-30CDD1DB2D20}"/>
                </a:ext>
              </a:extLst>
            </p:cNvPr>
            <p:cNvSpPr/>
            <p:nvPr/>
          </p:nvSpPr>
          <p:spPr>
            <a:xfrm>
              <a:off x="3559190" y="2070265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70C0"/>
                    </a:solidFill>
                  </a:ln>
                </a:rPr>
                <a:t>middleware</a:t>
              </a:r>
              <a:endParaRPr lang="ru-RU" dirty="0">
                <a:ln>
                  <a:solidFill>
                    <a:srgbClr val="0070C0"/>
                  </a:solidFill>
                </a:ln>
              </a:endParaRP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F107891D-CEA6-CE60-D9B8-6D987B87D8A8}"/>
                </a:ext>
              </a:extLst>
            </p:cNvPr>
            <p:cNvSpPr/>
            <p:nvPr/>
          </p:nvSpPr>
          <p:spPr>
            <a:xfrm>
              <a:off x="7407865" y="2345612"/>
              <a:ext cx="1651871" cy="522140"/>
            </a:xfrm>
            <a:prstGeom prst="roundRect">
              <a:avLst/>
            </a:prstGeom>
            <a:solidFill>
              <a:srgbClr val="EAB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2060"/>
                    </a:solidFill>
                  </a:ln>
                </a:rPr>
                <a:t>view.as_view</a:t>
              </a:r>
              <a:endParaRPr lang="ru-RU" dirty="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37DC4C4E-B612-C43A-79CA-CDA37AC06450}"/>
                </a:ext>
              </a:extLst>
            </p:cNvPr>
            <p:cNvSpPr/>
            <p:nvPr/>
          </p:nvSpPr>
          <p:spPr>
            <a:xfrm>
              <a:off x="3758589" y="5354551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70C0"/>
                    </a:solidFill>
                  </a:ln>
                </a:rPr>
                <a:t>middleware</a:t>
              </a:r>
              <a:endParaRPr lang="ru-RU" dirty="0">
                <a:ln>
                  <a:solidFill>
                    <a:srgbClr val="0070C0"/>
                  </a:solidFill>
                </a:ln>
              </a:endParaRPr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4D6EC64E-AEEA-E6A5-06E8-7C7A261AA986}"/>
                </a:ext>
              </a:extLst>
            </p:cNvPr>
            <p:cNvSpPr/>
            <p:nvPr/>
          </p:nvSpPr>
          <p:spPr>
            <a:xfrm>
              <a:off x="3671181" y="5235556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70C0"/>
                    </a:solidFill>
                  </a:ln>
                </a:rPr>
                <a:t>middleware</a:t>
              </a:r>
              <a:endParaRPr lang="ru-RU" dirty="0">
                <a:ln>
                  <a:solidFill>
                    <a:srgbClr val="0070C0"/>
                  </a:solidFill>
                </a:ln>
              </a:endParaRPr>
            </a:p>
          </p:txBody>
        </p:sp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D18E82F4-85FE-EE59-034A-CEB98EFD22DA}"/>
                </a:ext>
              </a:extLst>
            </p:cNvPr>
            <p:cNvSpPr/>
            <p:nvPr/>
          </p:nvSpPr>
          <p:spPr>
            <a:xfrm>
              <a:off x="3559190" y="5083093"/>
              <a:ext cx="1651871" cy="522140"/>
            </a:xfrm>
            <a:prstGeom prst="roundRect">
              <a:avLst/>
            </a:prstGeom>
            <a:solidFill>
              <a:srgbClr val="8A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ln>
                    <a:solidFill>
                      <a:srgbClr val="0070C0"/>
                    </a:solidFill>
                  </a:ln>
                </a:rPr>
                <a:t>middleware</a:t>
              </a:r>
              <a:endParaRPr lang="ru-RU" dirty="0">
                <a:ln>
                  <a:solidFill>
                    <a:srgbClr val="0070C0"/>
                  </a:solidFill>
                </a:ln>
              </a:endParaRPr>
            </a:p>
          </p:txBody>
        </p:sp>
        <p:cxnSp>
          <p:nvCxnSpPr>
            <p:cNvPr id="57" name="Прямая со стрелкой 56">
              <a:extLst>
                <a:ext uri="{FF2B5EF4-FFF2-40B4-BE49-F238E27FC236}">
                  <a16:creationId xmlns:a16="http://schemas.microsoft.com/office/drawing/2014/main" id="{FAD2C38A-5536-406F-C16B-03591EF3D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6983" y="2341723"/>
              <a:ext cx="1102207" cy="11987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 стрелкой 58">
              <a:extLst>
                <a:ext uri="{FF2B5EF4-FFF2-40B4-BE49-F238E27FC236}">
                  <a16:creationId xmlns:a16="http://schemas.microsoft.com/office/drawing/2014/main" id="{228E6A58-160B-AF1A-6F7F-DB1C26BF5EDE}"/>
                </a:ext>
              </a:extLst>
            </p:cNvPr>
            <p:cNvCxnSpPr>
              <a:cxnSpLocks/>
              <a:stCxn id="56" idx="1"/>
              <a:endCxn id="41" idx="1"/>
            </p:cNvCxnSpPr>
            <p:nvPr/>
          </p:nvCxnSpPr>
          <p:spPr>
            <a:xfrm flipH="1" flipV="1">
              <a:off x="1975234" y="4074183"/>
              <a:ext cx="1583956" cy="1269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 стрелкой 59">
              <a:extLst>
                <a:ext uri="{FF2B5EF4-FFF2-40B4-BE49-F238E27FC236}">
                  <a16:creationId xmlns:a16="http://schemas.microsoft.com/office/drawing/2014/main" id="{08ECB1BC-577D-CBF7-9406-E85C7430C12F}"/>
                </a:ext>
              </a:extLst>
            </p:cNvPr>
            <p:cNvCxnSpPr>
              <a:stCxn id="43" idx="3"/>
              <a:endCxn id="44" idx="1"/>
            </p:cNvCxnSpPr>
            <p:nvPr/>
          </p:nvCxnSpPr>
          <p:spPr>
            <a:xfrm>
              <a:off x="5410460" y="2602793"/>
              <a:ext cx="172767" cy="38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 стрелкой 60">
              <a:extLst>
                <a:ext uri="{FF2B5EF4-FFF2-40B4-BE49-F238E27FC236}">
                  <a16:creationId xmlns:a16="http://schemas.microsoft.com/office/drawing/2014/main" id="{AC4292B6-6BDD-3DBC-1A02-90353F1AEB47}"/>
                </a:ext>
              </a:extLst>
            </p:cNvPr>
            <p:cNvCxnSpPr>
              <a:stCxn id="44" idx="3"/>
              <a:endCxn id="53" idx="1"/>
            </p:cNvCxnSpPr>
            <p:nvPr/>
          </p:nvCxnSpPr>
          <p:spPr>
            <a:xfrm>
              <a:off x="7235098" y="2606681"/>
              <a:ext cx="1727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Соединитель: уступ 61">
              <a:extLst>
                <a:ext uri="{FF2B5EF4-FFF2-40B4-BE49-F238E27FC236}">
                  <a16:creationId xmlns:a16="http://schemas.microsoft.com/office/drawing/2014/main" id="{30DE33B0-E5BB-F8D0-D201-E64DDE1AB6EC}"/>
                </a:ext>
              </a:extLst>
            </p:cNvPr>
            <p:cNvCxnSpPr>
              <a:cxnSpLocks/>
              <a:stCxn id="53" idx="3"/>
              <a:endCxn id="45" idx="0"/>
            </p:cNvCxnSpPr>
            <p:nvPr/>
          </p:nvCxnSpPr>
          <p:spPr>
            <a:xfrm>
              <a:off x="9059736" y="2606682"/>
              <a:ext cx="259150" cy="52313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 стрелкой 62">
              <a:extLst>
                <a:ext uri="{FF2B5EF4-FFF2-40B4-BE49-F238E27FC236}">
                  <a16:creationId xmlns:a16="http://schemas.microsoft.com/office/drawing/2014/main" id="{E42A7A51-0CBB-48CD-76D7-57199DC5DA1F}"/>
                </a:ext>
              </a:extLst>
            </p:cNvPr>
            <p:cNvCxnSpPr>
              <a:cxnSpLocks/>
              <a:stCxn id="45" idx="2"/>
              <a:endCxn id="47" idx="0"/>
            </p:cNvCxnSpPr>
            <p:nvPr/>
          </p:nvCxnSpPr>
          <p:spPr>
            <a:xfrm>
              <a:off x="9318886" y="3649900"/>
              <a:ext cx="0" cy="261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>
              <a:extLst>
                <a:ext uri="{FF2B5EF4-FFF2-40B4-BE49-F238E27FC236}">
                  <a16:creationId xmlns:a16="http://schemas.microsoft.com/office/drawing/2014/main" id="{42438434-2931-9846-4B23-05519F95687B}"/>
                </a:ext>
              </a:extLst>
            </p:cNvPr>
            <p:cNvCxnSpPr>
              <a:stCxn id="47" idx="2"/>
              <a:endCxn id="48" idx="0"/>
            </p:cNvCxnSpPr>
            <p:nvPr/>
          </p:nvCxnSpPr>
          <p:spPr>
            <a:xfrm>
              <a:off x="9318885" y="4433112"/>
              <a:ext cx="0" cy="1996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Соединитель: уступ 64">
              <a:extLst>
                <a:ext uri="{FF2B5EF4-FFF2-40B4-BE49-F238E27FC236}">
                  <a16:creationId xmlns:a16="http://schemas.microsoft.com/office/drawing/2014/main" id="{1E5C64EA-13EE-0E38-72E9-B6EC158D37DC}"/>
                </a:ext>
              </a:extLst>
            </p:cNvPr>
            <p:cNvCxnSpPr>
              <a:stCxn id="48" idx="2"/>
              <a:endCxn id="49" idx="3"/>
            </p:cNvCxnSpPr>
            <p:nvPr/>
          </p:nvCxnSpPr>
          <p:spPr>
            <a:xfrm rot="5400000">
              <a:off x="8958950" y="5255687"/>
              <a:ext cx="460720" cy="2591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 стрелкой 65">
              <a:extLst>
                <a:ext uri="{FF2B5EF4-FFF2-40B4-BE49-F238E27FC236}">
                  <a16:creationId xmlns:a16="http://schemas.microsoft.com/office/drawing/2014/main" id="{85CAF568-0406-7148-5592-063E264070A2}"/>
                </a:ext>
              </a:extLst>
            </p:cNvPr>
            <p:cNvCxnSpPr>
              <a:stCxn id="49" idx="1"/>
              <a:endCxn id="50" idx="3"/>
            </p:cNvCxnSpPr>
            <p:nvPr/>
          </p:nvCxnSpPr>
          <p:spPr>
            <a:xfrm flipH="1" flipV="1">
              <a:off x="7235098" y="5615621"/>
              <a:ext cx="17276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 стрелкой 66">
              <a:extLst>
                <a:ext uri="{FF2B5EF4-FFF2-40B4-BE49-F238E27FC236}">
                  <a16:creationId xmlns:a16="http://schemas.microsoft.com/office/drawing/2014/main" id="{D7771C2A-C6B5-E831-D52F-C69C4FEAB39E}"/>
                </a:ext>
              </a:extLst>
            </p:cNvPr>
            <p:cNvCxnSpPr>
              <a:stCxn id="50" idx="1"/>
              <a:endCxn id="54" idx="3"/>
            </p:cNvCxnSpPr>
            <p:nvPr/>
          </p:nvCxnSpPr>
          <p:spPr>
            <a:xfrm flipH="1">
              <a:off x="5410460" y="5615621"/>
              <a:ext cx="1727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Прямоугольник: скругленные углы 67">
              <a:extLst>
                <a:ext uri="{FF2B5EF4-FFF2-40B4-BE49-F238E27FC236}">
                  <a16:creationId xmlns:a16="http://schemas.microsoft.com/office/drawing/2014/main" id="{94A15164-B1FA-1ADC-BAF2-309052743083}"/>
                </a:ext>
              </a:extLst>
            </p:cNvPr>
            <p:cNvSpPr/>
            <p:nvPr/>
          </p:nvSpPr>
          <p:spPr>
            <a:xfrm>
              <a:off x="1248192" y="3279569"/>
              <a:ext cx="1405054" cy="1287395"/>
            </a:xfrm>
            <a:prstGeom prst="roundRect">
              <a:avLst/>
            </a:prstGeom>
            <a:solidFill>
              <a:srgbClr val="FB93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n>
                    <a:solidFill>
                      <a:srgbClr val="002060"/>
                    </a:solidFill>
                  </a:ln>
                </a:rPr>
                <a:t>webserver</a:t>
              </a: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B3530-03EB-BF03-8B95-168577A3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/>
              <a:t>Async APIs elements in Django:</a:t>
            </a:r>
            <a:endParaRPr lang="en-US" dirty="0"/>
          </a:p>
        </p:txBody>
      </p:sp>
      <p:sp>
        <p:nvSpPr>
          <p:cNvPr id="58" name="Объект 57">
            <a:extLst>
              <a:ext uri="{FF2B5EF4-FFF2-40B4-BE49-F238E27FC236}">
                <a16:creationId xmlns:a16="http://schemas.microsoft.com/office/drawing/2014/main" id="{DB9D6805-C73B-44A5-4677-C1FEE3A2E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A502222-840A-F165-F2FB-FD336471F498}"/>
              </a:ext>
            </a:extLst>
          </p:cNvPr>
          <p:cNvSpPr/>
          <p:nvPr/>
        </p:nvSpPr>
        <p:spPr>
          <a:xfrm>
            <a:off x="5184731" y="4229714"/>
            <a:ext cx="692296" cy="741088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</a:t>
            </a:r>
            <a:endParaRPr lang="en-US" sz="5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6426A26A-F363-4E3C-864D-561B5D032AAC}"/>
              </a:ext>
            </a:extLst>
          </p:cNvPr>
          <p:cNvSpPr/>
          <p:nvPr/>
        </p:nvSpPr>
        <p:spPr>
          <a:xfrm>
            <a:off x="3574274" y="3329573"/>
            <a:ext cx="692296" cy="741088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</a:t>
            </a:r>
            <a:endParaRPr lang="en-US" sz="5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B3EEB761-CB71-777A-D1C4-BA78691A2E30}"/>
              </a:ext>
            </a:extLst>
          </p:cNvPr>
          <p:cNvSpPr/>
          <p:nvPr/>
        </p:nvSpPr>
        <p:spPr>
          <a:xfrm>
            <a:off x="5123622" y="2322902"/>
            <a:ext cx="692296" cy="741088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</a:t>
            </a:r>
            <a:endParaRPr lang="en-US" sz="5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C03C9656-066A-F3B5-6983-F5A386C6F875}"/>
              </a:ext>
            </a:extLst>
          </p:cNvPr>
          <p:cNvSpPr/>
          <p:nvPr/>
        </p:nvSpPr>
        <p:spPr>
          <a:xfrm>
            <a:off x="7165137" y="5698238"/>
            <a:ext cx="692296" cy="741088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</a:t>
            </a:r>
            <a:endParaRPr lang="en-US" sz="5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4EC8229-5301-D14C-6829-FA2A314160B3}"/>
              </a:ext>
            </a:extLst>
          </p:cNvPr>
          <p:cNvSpPr/>
          <p:nvPr/>
        </p:nvSpPr>
        <p:spPr>
          <a:xfrm>
            <a:off x="8893474" y="1385412"/>
            <a:ext cx="692296" cy="741088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</a:t>
            </a:r>
            <a:endParaRPr lang="en-US" sz="5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844EE63B-326E-5A13-1F13-3FAA483F602D}"/>
              </a:ext>
            </a:extLst>
          </p:cNvPr>
          <p:cNvSpPr/>
          <p:nvPr/>
        </p:nvSpPr>
        <p:spPr>
          <a:xfrm>
            <a:off x="9071976" y="3597170"/>
            <a:ext cx="692296" cy="741088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</a:t>
            </a:r>
            <a:endParaRPr lang="en-US" sz="5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35B26000-E9AF-D95F-5916-5AD11DE23292}"/>
              </a:ext>
            </a:extLst>
          </p:cNvPr>
          <p:cNvSpPr/>
          <p:nvPr/>
        </p:nvSpPr>
        <p:spPr>
          <a:xfrm>
            <a:off x="7030923" y="1350171"/>
            <a:ext cx="692296" cy="741088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</a:t>
            </a:r>
            <a:endParaRPr lang="en-US" sz="5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7ACE7B1E-0539-7E57-9181-9D23A0807DC0}"/>
              </a:ext>
            </a:extLst>
          </p:cNvPr>
          <p:cNvSpPr/>
          <p:nvPr/>
        </p:nvSpPr>
        <p:spPr>
          <a:xfrm>
            <a:off x="551007" y="691762"/>
            <a:ext cx="692296" cy="741088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</a:t>
            </a:r>
            <a:endParaRPr lang="en-US" sz="5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Дата 30">
            <a:extLst>
              <a:ext uri="{FF2B5EF4-FFF2-40B4-BE49-F238E27FC236}">
                <a16:creationId xmlns:a16="http://schemas.microsoft.com/office/drawing/2014/main" id="{1C7B73C7-4C97-2CA1-7D3B-DB800459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0038-5C51-4A10-AE4C-188846577545}" type="datetime1">
              <a:rPr lang="en-US" smtClean="0"/>
              <a:t>7/26/2025</a:t>
            </a:fld>
            <a:endParaRPr lang="en-US"/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7903CE89-0452-2CCE-D4A6-C99DC57F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35" name="Номер слайда 34">
            <a:extLst>
              <a:ext uri="{FF2B5EF4-FFF2-40B4-BE49-F238E27FC236}">
                <a16:creationId xmlns:a16="http://schemas.microsoft.com/office/drawing/2014/main" id="{E025770D-D2F4-C390-2B5B-18529496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33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 animBg="1"/>
      <p:bldP spid="19" grpId="0" animBg="1"/>
      <p:bldP spid="20" grpId="0" animBg="1"/>
      <p:bldP spid="22" grpId="0" animBg="1"/>
      <p:bldP spid="25" grpId="0" animBg="1"/>
      <p:bldP spid="27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D1407-FD72-B35F-7898-AAFF5325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API decorators in Django: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03D42B-8BB1-AE48-43D1-C75173510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Auth/p</a:t>
            </a:r>
            <a:r>
              <a:rPr lang="de-DE"/>
              <a:t>e</a:t>
            </a:r>
            <a:r>
              <a:rPr lang="en-US"/>
              <a:t>rmissions decorator (in general async)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Cache decorator</a:t>
            </a:r>
            <a:r>
              <a:rPr lang="de-DE"/>
              <a:t>s</a:t>
            </a:r>
            <a:r>
              <a:rPr lang="en-US"/>
              <a:t> (async in last version)</a:t>
            </a:r>
          </a:p>
          <a:p>
            <a:endParaRPr lang="en-US"/>
          </a:p>
          <a:p>
            <a:endParaRPr lang="ru-RU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7E19C2-4E2A-D290-690A-EDCD18A0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6672-7FCE-47AB-9E60-6EF7D2F65CAC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EE9945-7F26-5BCA-DB5E-7AF66D16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E32525-9F72-62ED-5AB9-26D60D14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31</a:t>
            </a:fld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21EFCB2-75B6-4127-D051-4155C12A7D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528" y="635968"/>
            <a:ext cx="7696198" cy="84264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090B91D-D0F6-5066-A62D-42766C86ABF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735" y="2402360"/>
            <a:ext cx="10251014" cy="172048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57E964B-5CF8-8CEC-384E-C99C85AC3B4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12704" y="4699584"/>
            <a:ext cx="2779296" cy="215841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4475C10-19B8-3812-4BC5-EEE106D6E7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673" y="4904442"/>
            <a:ext cx="7992979" cy="145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6269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89A941-7768-EC48-F8B9-CBA35ED63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REST API Autodocumentation: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665988-38D1-C122-DC6B-8190BCBE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631F-D539-468C-867F-0EE48BCC51FA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2A81F6-1697-53C9-E1AE-42B6FA61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A27EC6-FAD5-0CC3-7AFD-1F1F91AD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32</a:t>
            </a:fld>
            <a:endParaRPr lang="en-US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7B353A32-94C0-C9FB-804F-BDD3B4244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r>
              <a:rPr lang="en-US"/>
              <a:t>Request.method.</a:t>
            </a:r>
            <a:r>
              <a:rPr lang="en-US" b="1"/>
              <a:t>OPTION</a:t>
            </a:r>
            <a:r>
              <a:rPr lang="en-US"/>
              <a:t> to provide yaml documentation about the API</a:t>
            </a:r>
          </a:p>
          <a:p>
            <a:r>
              <a:rPr lang="de-DE"/>
              <a:t>H</a:t>
            </a:r>
            <a:r>
              <a:rPr lang="en-US"/>
              <a:t>andler.</a:t>
            </a:r>
            <a:r>
              <a:rPr lang="en-US" b="1"/>
              <a:t>doctrin</a:t>
            </a:r>
            <a:r>
              <a:rPr lang="de-DE" b="1"/>
              <a:t>g</a:t>
            </a:r>
            <a:r>
              <a:rPr lang="en-US"/>
              <a:t> used to provide information for yaml generation</a:t>
            </a:r>
          </a:p>
          <a:p>
            <a:r>
              <a:rPr lang="en-US"/>
              <a:t>dockstring is updated automatically by the </a:t>
            </a:r>
            <a:r>
              <a:rPr lang="en-US" b="1"/>
              <a:t>linter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www.youtube.com/watch?v=MeoKMdyPRWo</a:t>
            </a:r>
          </a:p>
        </p:txBody>
      </p:sp>
      <p:pic>
        <p:nvPicPr>
          <p:cNvPr id="12" name="Объект 8">
            <a:extLst>
              <a:ext uri="{FF2B5EF4-FFF2-40B4-BE49-F238E27FC236}">
                <a16:creationId xmlns:a16="http://schemas.microsoft.com/office/drawing/2014/main" id="{AC7C1DFC-2209-B8B9-8D36-34D9525F2A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7548" y="3133512"/>
            <a:ext cx="3043451" cy="30434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2FC5D42-EC0A-9BB4-53A3-D857C6F963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178248">
            <a:off x="3880892" y="3084953"/>
            <a:ext cx="1144098" cy="23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27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EB98A-9CA8-46E2-B26C-D9C0BFE61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Summary: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63AC88-296F-7637-8277-B61540EDD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Raw Django has EVERYTHING you need to create REST APIs</a:t>
            </a:r>
          </a:p>
          <a:p>
            <a:endParaRPr lang="en-US"/>
          </a:p>
          <a:p>
            <a:r>
              <a:rPr lang="en-US"/>
              <a:t>REST APIs in Raw Django can be a synchronous or asynchronous</a:t>
            </a:r>
          </a:p>
          <a:p>
            <a:endParaRPr lang="en-US"/>
          </a:p>
          <a:p>
            <a:r>
              <a:rPr lang="en-US"/>
              <a:t>Raw Django is not ready to offer full async functionality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Know you framework for fun and profit!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947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alphaModFix amt="23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B47E4-AA66-209F-5304-3E6AB27B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Thank you for your attention!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599073-32BF-4E08-0A08-057380C6CC5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effectLst>
            <a:innerShdw blurRad="63500" dist="50800">
              <a:prstClr val="black">
                <a:alpha val="50000"/>
              </a:prstClr>
            </a:innerShd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Maxim Danilov</a:t>
            </a:r>
          </a:p>
          <a:p>
            <a:pPr marL="0" indent="0">
              <a:buNone/>
            </a:pPr>
            <a:r>
              <a:rPr lang="en-US" sz="3200" b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maxim@wps</a:t>
            </a:r>
            <a:r>
              <a:rPr lang="de-DE" sz="3200" b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hop</a:t>
            </a:r>
            <a:r>
              <a:rPr lang="en-US" sz="3200" b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.at</a:t>
            </a:r>
            <a:endParaRPr lang="en-US" sz="3200" b="1"/>
          </a:p>
          <a:p>
            <a:pPr marL="0" indent="0">
              <a:buNone/>
            </a:pPr>
            <a:endParaRPr lang="en-US" sz="3200" b="1"/>
          </a:p>
          <a:p>
            <a:pPr marL="0" indent="0">
              <a:buNone/>
            </a:pPr>
            <a:endParaRPr lang="en-US" sz="3200" b="1"/>
          </a:p>
          <a:p>
            <a:pPr marL="0" indent="0">
              <a:buNone/>
            </a:pPr>
            <a:endParaRPr lang="en-US" sz="3200" b="1"/>
          </a:p>
          <a:p>
            <a:pPr marL="0" indent="0">
              <a:buNone/>
            </a:pPr>
            <a:endParaRPr lang="en-US" sz="3200" b="1"/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FC5405-F98E-B08D-1111-99E9B9054F8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622189" y="3192574"/>
            <a:ext cx="3200400" cy="2768378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558B6DF0-E3E5-2246-CEC5-037BFC4299E3}"/>
              </a:ext>
            </a:extLst>
          </p:cNvPr>
          <p:cNvSpPr txBox="1">
            <a:spLocks/>
          </p:cNvSpPr>
          <p:nvPr/>
        </p:nvSpPr>
        <p:spPr>
          <a:xfrm>
            <a:off x="5843239" y="5029200"/>
            <a:ext cx="5929661" cy="2170894"/>
          </a:xfrm>
          <a:prstGeom prst="rect">
            <a:avLst/>
          </a:prstGeom>
          <a:noFill/>
          <a:effectLst>
            <a:innerShdw blurRad="63500" dist="50800">
              <a:prstClr val="black">
                <a:alpha val="50000"/>
              </a:prstClr>
            </a:inn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200" b="1"/>
              <a:t>Link to slides &amp; code</a:t>
            </a:r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212F563A-0227-BAE2-BF33-FB6E8459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22AA-9001-4464-AEB6-9186EA5DF650}" type="datetime1">
              <a:rPr lang="en-US" smtClean="0"/>
              <a:t>7/26/2025</a:t>
            </a:fld>
            <a:endParaRPr lang="en-US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3307B75B-EA2C-FD51-E413-2DBADAEB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Maxim Danilov, danilovmy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726C20BB-CF02-2EAC-C332-6E7DAFFF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9A6A-92A3-45A5-92C7-6A0F41A711CA}" type="slidenum">
              <a:rPr lang="en-US" smtClean="0"/>
              <a:t>34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B9417A-940A-C4FA-BE77-A288F1FAC923}"/>
              </a:ext>
            </a:extLst>
          </p:cNvPr>
          <p:cNvSpPr txBox="1"/>
          <p:nvPr/>
        </p:nvSpPr>
        <p:spPr>
          <a:xfrm>
            <a:off x="4063779" y="5710019"/>
            <a:ext cx="6752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>
                <a:hlinkClick r:id="rId5"/>
              </a:rPr>
              <a:t>https://github.com/danilovmy/pyconpt2025/tree/main/workshop</a:t>
            </a:r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34A4E7-B935-2FAC-F579-909BF3748F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231" y="1621215"/>
            <a:ext cx="3096961" cy="309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416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1790</TotalTime>
  <Words>1265</Words>
  <Application>Microsoft Office PowerPoint</Application>
  <PresentationFormat>Широкоэкранный</PresentationFormat>
  <Paragraphs>408</Paragraphs>
  <Slides>34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5" baseType="lpstr">
      <vt:lpstr>AmazonEmber</vt:lpstr>
      <vt:lpstr>-apple-system</vt:lpstr>
      <vt:lpstr>Arial</vt:lpstr>
      <vt:lpstr>Calibri</vt:lpstr>
      <vt:lpstr>Courier New</vt:lpstr>
      <vt:lpstr>DTLProkyonSTMedium</vt:lpstr>
      <vt:lpstr>Linux Libertine</vt:lpstr>
      <vt:lpstr>Monument Extended</vt:lpstr>
      <vt:lpstr>source-code-pro</vt:lpstr>
      <vt:lpstr>var(--stk-f_family)</vt:lpstr>
      <vt:lpstr>Тема Office</vt:lpstr>
      <vt:lpstr>RESTfull-API</vt:lpstr>
      <vt:lpstr>Who I am</vt:lpstr>
      <vt:lpstr>Thanks for support for my family</vt:lpstr>
      <vt:lpstr>Thanks Maja &amp; Mark for illustrations</vt:lpstr>
      <vt:lpstr>Links</vt:lpstr>
      <vt:lpstr>What is REST  (Re-presentative State Transfer)</vt:lpstr>
      <vt:lpstr>REST priciples (1 from 6)</vt:lpstr>
      <vt:lpstr>REST priciples (2 from 6)</vt:lpstr>
      <vt:lpstr>REST priciples (3 from 6)</vt:lpstr>
      <vt:lpstr>REST priciples (4 from 6)</vt:lpstr>
      <vt:lpstr>REST priciples (5 from 6)</vt:lpstr>
      <vt:lpstr>REST priciples (6 from 6)</vt:lpstr>
      <vt:lpstr>REST priciples (&gt;6 from 6)</vt:lpstr>
      <vt:lpstr>RESTfull api</vt:lpstr>
      <vt:lpstr>APIs in Django are not RESTfull…</vt:lpstr>
      <vt:lpstr>APIs elements in Django:</vt:lpstr>
      <vt:lpstr>APIs elements in Django:</vt:lpstr>
      <vt:lpstr>Middlware alternatives:</vt:lpstr>
      <vt:lpstr>Important changes in Django 5.2</vt:lpstr>
      <vt:lpstr>APIs elements in Django:</vt:lpstr>
      <vt:lpstr>Middlware alternatives:</vt:lpstr>
      <vt:lpstr>APIs elements in Django:</vt:lpstr>
      <vt:lpstr>APIs elements in Django:</vt:lpstr>
      <vt:lpstr>APIs elements in Django:</vt:lpstr>
      <vt:lpstr>Презентация PowerPoint</vt:lpstr>
      <vt:lpstr>APIs elements in Django:</vt:lpstr>
      <vt:lpstr>APIs elements in Django:</vt:lpstr>
      <vt:lpstr>APIs elements in Django:</vt:lpstr>
      <vt:lpstr>APIs elements in Django:</vt:lpstr>
      <vt:lpstr>Async APIs elements in Django:</vt:lpstr>
      <vt:lpstr>API decorators in Django:</vt:lpstr>
      <vt:lpstr>REST API Autodocumentation:</vt:lpstr>
      <vt:lpstr>Summary: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REST-API</dc:title>
  <dc:creator>Maxim Danilov</dc:creator>
  <cp:lastModifiedBy>Maxim Danilov</cp:lastModifiedBy>
  <cp:revision>37</cp:revision>
  <dcterms:created xsi:type="dcterms:W3CDTF">2025-01-05T21:02:35Z</dcterms:created>
  <dcterms:modified xsi:type="dcterms:W3CDTF">2025-07-26T09:37:54Z</dcterms:modified>
</cp:coreProperties>
</file>